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05840"/>
            <a:ext cx="9997135" cy="1188720"/>
          </a:xfrm>
          <a:prstGeom prst="rect">
            <a:avLst/>
          </a:prstGeom>
          <a:noFill/>
        </p:spPr>
        <p:txBody>
          <a:bodyPr wrap="square">
            <a:spAutoFit/>
          </a:bodyPr>
          <a:lstStyle/>
          <a:p>
            <a:pPr algn="ctr">
              <a:defRPr sz="3000" b="1">
                <a:solidFill>
                  <a:srgbClr val="232D1E"/>
                </a:solidFill>
                <a:latin typeface="Georgia"/>
              </a:defRPr>
            </a:pPr>
            <a:r>
              <a:t>INTERNSHIP</a:t>
            </a:r>
            <a:br/>
            <a:r>
              <a:t>REPORT &amp; PROJECT REVIEW-1</a:t>
            </a:r>
          </a:p>
        </p:txBody>
      </p:sp>
      <p:sp>
        <p:nvSpPr>
          <p:cNvPr id="6" name="Rounded Rectangle 5"/>
          <p:cNvSpPr/>
          <p:nvPr/>
        </p:nvSpPr>
        <p:spPr>
          <a:xfrm>
            <a:off x="1645920" y="2377440"/>
            <a:ext cx="8899855" cy="82296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92400E"/>
                </a:solidFill>
                <a:latin typeface="Georgia"/>
              </a:defRPr>
            </a:pPr>
            <a:r>
              <a:t>PROJECT: GLOBAL SUPPLY CHAIN ANALYSIS &amp; ARCHITECTURAL RESILIENCE</a:t>
            </a:r>
            <a:br/>
            <a:r>
              <a:t>OF ADVANCED MOBILE PROCESSORS (SUB-5nm SoCs)</a:t>
            </a:r>
          </a:p>
        </p:txBody>
      </p:sp>
      <p:sp>
        <p:nvSpPr>
          <p:cNvPr id="7" name="TextBox 6"/>
          <p:cNvSpPr txBox="1"/>
          <p:nvPr/>
        </p:nvSpPr>
        <p:spPr>
          <a:xfrm>
            <a:off x="1371600" y="3474720"/>
            <a:ext cx="9448495" cy="2377440"/>
          </a:xfrm>
          <a:prstGeom prst="rect">
            <a:avLst/>
          </a:prstGeom>
          <a:noFill/>
        </p:spPr>
        <p:txBody>
          <a:bodyPr wrap="square">
            <a:spAutoFit/>
          </a:bodyPr>
          <a:lstStyle/>
          <a:p>
            <a:pPr algn="ctr">
              <a:spcAft>
                <a:spcPts val="1000"/>
              </a:spcAft>
            </a:pPr>
            <a:r>
              <a:rPr b="1" sz="1400">
                <a:solidFill>
                  <a:srgbClr val="A51D24"/>
                </a:solidFill>
                <a:latin typeface="Georgia"/>
              </a:rPr>
              <a:t>INTERNSHIP PERIOD: </a:t>
            </a:r>
            <a:r>
              <a:rPr b="1" sz="1350">
                <a:solidFill>
                  <a:srgbClr val="1E293B"/>
                </a:solidFill>
                <a:latin typeface="Calibri"/>
              </a:rPr>
              <a:t>01 JUNE 2026 TO 31 JULY 2026 (8 WEEKS INTENSIVE RESEARCH TRACK)</a:t>
            </a:r>
          </a:p>
          <a:p>
            <a:pPr algn="ctr">
              <a:spcAft>
                <a:spcPts val="1000"/>
              </a:spcAft>
            </a:pPr>
            <a:r>
              <a:rPr b="1" sz="1400">
                <a:solidFill>
                  <a:srgbClr val="A51D24"/>
                </a:solidFill>
                <a:latin typeface="Georgia"/>
              </a:rPr>
              <a:t>STUDENT DETAILS: </a:t>
            </a:r>
            <a:r>
              <a:rPr b="1" sz="1350">
                <a:solidFill>
                  <a:srgbClr val="1E293B"/>
                </a:solidFill>
                <a:latin typeface="Calibri"/>
              </a:rPr>
              <a:t>ABDUL REHMAN  |  ROLL NO: 22CST048  |  IV CST - SEC B</a:t>
            </a:r>
          </a:p>
          <a:p>
            <a:pPr algn="ctr">
              <a:spcAft>
                <a:spcPts val="1000"/>
              </a:spcAft>
            </a:pPr>
            <a:r>
              <a:rPr b="1" sz="1400">
                <a:solidFill>
                  <a:srgbClr val="A51D24"/>
                </a:solidFill>
                <a:latin typeface="Georgia"/>
              </a:rPr>
              <a:t>REVIEW DETAILS: </a:t>
            </a:r>
            <a:r>
              <a:rPr b="1" sz="1350">
                <a:solidFill>
                  <a:srgbClr val="1E293B"/>
                </a:solidFill>
                <a:latin typeface="Calibri"/>
              </a:rPr>
              <a:t>PROJECT REVIEW - 1  |  DATE: 21 OCTOBER 2026</a:t>
            </a:r>
          </a:p>
          <a:p>
            <a:pPr algn="ctr">
              <a:spcAft>
                <a:spcPts val="1000"/>
              </a:spcAft>
            </a:pPr>
            <a:r>
              <a:rPr b="1" sz="1400">
                <a:solidFill>
                  <a:srgbClr val="A51D24"/>
                </a:solidFill>
                <a:latin typeface="Georgia"/>
              </a:rPr>
              <a:t>INTERNSHIP MENTOR: </a:t>
            </a:r>
            <a:r>
              <a:rPr b="1" sz="1350">
                <a:solidFill>
                  <a:srgbClr val="1E293B"/>
                </a:solidFill>
                <a:latin typeface="Calibri"/>
              </a:rPr>
              <a:t>DR. K. V. RAMANA, PROFESSOR &amp; HEAD (DEPT. OF CST)</a:t>
            </a:r>
          </a:p>
          <a:p>
            <a:pPr algn="ctr">
              <a:spcAft>
                <a:spcPts val="1000"/>
              </a:spcAft>
            </a:pPr>
            <a:r>
              <a:rPr b="1" sz="1400">
                <a:solidFill>
                  <a:srgbClr val="A51D24"/>
                </a:solidFill>
                <a:latin typeface="Georgia"/>
              </a:rPr>
              <a:t>INDUSTRY COLLABORATOR: </a:t>
            </a:r>
            <a:r>
              <a:rPr b="1" sz="1350">
                <a:solidFill>
                  <a:srgbClr val="1E293B"/>
                </a:solidFill>
                <a:latin typeface="Calibri"/>
              </a:rPr>
              <a:t>SEMICONDUCTOR INSIGHTS &amp; MICROELECTRONICS LAB (SI-AMRL)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ABOUT INDUSTRY/ORGANIZATION DETAILS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645920"/>
            <a:ext cx="9997135" cy="12801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A51D24"/>
                </a:solidFill>
                <a:latin typeface="Georgia"/>
              </a:defRPr>
            </a:pPr>
            <a:r>
              <a:t>ORGANIZATION PROFILE &amp; SECTOR CLASSIFICATION</a:t>
            </a:r>
          </a:p>
          <a:p>
            <a:pPr>
              <a:defRPr sz="1100">
                <a:solidFill>
                  <a:srgbClr val="1E293B"/>
                </a:solidFill>
                <a:latin typeface="Calibri"/>
              </a:defRPr>
            </a:pPr>
            <a:r>
              <a:t>• Entity: Semiconductor Insights &amp; Advanced Microelectronics Research Lab (SI-AMRL)</a:t>
            </a:r>
            <a:br/>
            <a:r>
              <a:t>• Sector: Semiconductor Analytics, Fabless IC Design Verification &amp; Global Technology Supply Chain Intelligence.</a:t>
            </a:r>
            <a:br/>
            <a:r>
              <a:t>• Core Focus: Quantitative telemetry on leading-edge node lithography, wafer yield dynamics, advanced packaging (InFO/CoWoS), and geopolitical vulnerability stress-testing.</a:t>
            </a:r>
          </a:p>
        </p:txBody>
      </p:sp>
      <p:sp>
        <p:nvSpPr>
          <p:cNvPr id="8" name="Rounded Rectangle 7"/>
          <p:cNvSpPr/>
          <p:nvPr/>
        </p:nvSpPr>
        <p:spPr>
          <a:xfrm>
            <a:off x="1097280" y="3063240"/>
            <a:ext cx="9997135" cy="17830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A51D24"/>
                </a:solidFill>
                <a:latin typeface="Georgia"/>
              </a:defRPr>
            </a:pPr>
            <a:r>
              <a:t>CORE INDUSTRIAL PROCESSES &amp; SERVICES DELIVERED</a:t>
            </a:r>
          </a:p>
          <a:p>
            <a:pPr>
              <a:defRPr sz="1100">
                <a:solidFill>
                  <a:srgbClr val="1E293B"/>
                </a:solidFill>
                <a:latin typeface="Calibri"/>
              </a:defRPr>
            </a:pPr>
            <a:r>
              <a:t>1. Multi-Tier Supply Telemetry: Continuous monitoring of Tier-4 chemical precursors (photoresists, EGS), Tier-3 lithography scanners (ASML EUV), Tier-2 foundries (TSMC, Samsung, SMIC), and Tier-1 OSAT assembly.</a:t>
            </a:r>
            <a:br/>
            <a:r>
              <a:t>2. Wafer Yield &amp; Defect Density Physics: Algorithmic modeling of defect densities (D₀) using Murphy's and Seeds equations across sub-5nm FinFET and Gate-All-Around (GAA) nodes.</a:t>
            </a:r>
            <a:br/>
            <a:r>
              <a:t>3. Bill-of-Materials (BOM) &amp; Microarchitecture Benchmarking: Hardware cost decomposition of flagship mobile SoCs (Apple A18 Pro, Snapdragon 8 Elite, Dimensity 9400) and thermal envelope profiling.</a:t>
            </a:r>
            <a:br/>
            <a:r>
              <a:t>4. Geopolitical Shock Simulation: Network graph modeling of critical semiconductor chokepoints and maritime blockades.</a:t>
            </a:r>
          </a:p>
        </p:txBody>
      </p:sp>
      <p:sp>
        <p:nvSpPr>
          <p:cNvPr id="9" name="Rounded Rectangle 8"/>
          <p:cNvSpPr/>
          <p:nvPr/>
        </p:nvSpPr>
        <p:spPr>
          <a:xfrm>
            <a:off x="1097280" y="4983480"/>
            <a:ext cx="9997135" cy="1051560"/>
          </a:xfrm>
          <a:prstGeom prst="roundRect">
            <a:avLst/>
          </a:prstGeom>
          <a:solidFill>
            <a:srgbClr val="F1F5F9"/>
          </a:solidFill>
          <a:ln w="1524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69803C"/>
                </a:solidFill>
                <a:latin typeface="Georgia"/>
              </a:defRPr>
            </a:pPr>
            <a:r>
              <a:t>ORGANIZATION HEADQUARTERS &amp; RESEARCH FACILITIES ADDRESS</a:t>
            </a:r>
          </a:p>
          <a:p>
            <a:pPr>
              <a:defRPr sz="1050">
                <a:solidFill>
                  <a:srgbClr val="1E293B"/>
                </a:solidFill>
                <a:latin typeface="Calibri"/>
              </a:defRPr>
            </a:pPr>
            <a:r>
              <a:t>• Primary R&amp;D Center: Semiconductor Innovation Hub, Cyber Tech Corridor, Phase 1, Electronic City, Bangalore - 560100, India.</a:t>
            </a:r>
            <a:br/>
            <a:r>
              <a:t>• Global Collaborative Nodes: Hsinchu Science Park, Taiwan &amp; High-Tech Campus, Veldhoven, Netherlands.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Internship Certificate</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ternship_certificate.png"/>
          <p:cNvPicPr>
            <a:picLocks noChangeAspect="1"/>
          </p:cNvPicPr>
          <p:nvPr/>
        </p:nvPicPr>
        <p:blipFill>
          <a:blip r:embed="rId3"/>
          <a:stretch>
            <a:fillRect/>
          </a:stretch>
        </p:blipFill>
        <p:spPr>
          <a:xfrm>
            <a:off x="2011680" y="1600200"/>
            <a:ext cx="8168335" cy="4114800"/>
          </a:xfrm>
          <a:prstGeom prst="rect">
            <a:avLst/>
          </a:prstGeom>
        </p:spPr>
      </p:pic>
      <p:sp>
        <p:nvSpPr>
          <p:cNvPr id="8" name="TextBox 7"/>
          <p:cNvSpPr txBox="1"/>
          <p:nvPr/>
        </p:nvSpPr>
        <p:spPr>
          <a:xfrm>
            <a:off x="1097280" y="5760720"/>
            <a:ext cx="9997135" cy="365760"/>
          </a:xfrm>
          <a:prstGeom prst="rect">
            <a:avLst/>
          </a:prstGeom>
          <a:noFill/>
        </p:spPr>
        <p:txBody>
          <a:bodyPr wrap="none">
            <a:spAutoFit/>
          </a:bodyPr>
          <a:lstStyle/>
          <a:p>
            <a:pPr algn="ctr">
              <a:defRPr sz="1050">
                <a:solidFill>
                  <a:srgbClr val="64748B"/>
                </a:solidFill>
                <a:latin typeface="Calibri"/>
              </a:defRPr>
            </a:pPr>
            <a:r>
              <a:t>Verified Institutional Record: Certificate ID SI-AMRL-2026-INT-8842  |  Student can replace image container with official physical scan.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My Internship</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645920"/>
            <a:ext cx="4846320" cy="43891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A51D24"/>
                </a:solidFill>
                <a:latin typeface="Georgia"/>
              </a:defRPr>
            </a:pPr>
            <a:r>
              <a:t>INTERNSHIP DESCRIPTION</a:t>
            </a:r>
          </a:p>
          <a:p>
            <a:pPr>
              <a:spcBef>
                <a:spcPts val="800"/>
              </a:spcBef>
            </a:pPr>
            <a:r>
              <a:rPr b="1" sz="1100">
                <a:solidFill>
                  <a:srgbClr val="232D1E"/>
                </a:solidFill>
              </a:rPr>
              <a:t>• Domain &amp; Scope: </a:t>
            </a:r>
            <a:r>
              <a:rPr sz="1050">
                <a:solidFill>
                  <a:srgbClr val="1E293B"/>
                </a:solidFill>
              </a:rPr>
              <a:t>Technical and quantitative investigation into the global mobile System-on-Chip (SoC) semiconductor ecosystem powering 1.2B annual smartphones.</a:t>
            </a:r>
          </a:p>
          <a:p>
            <a:pPr>
              <a:spcBef>
                <a:spcPts val="800"/>
              </a:spcBef>
            </a:pPr>
            <a:r>
              <a:rPr b="1" sz="1100">
                <a:solidFill>
                  <a:srgbClr val="232D1E"/>
                </a:solidFill>
              </a:rPr>
              <a:t>• Value Chain Tiers: </a:t>
            </a:r>
            <a:r>
              <a:rPr sz="1050">
                <a:solidFill>
                  <a:srgbClr val="1E293B"/>
                </a:solidFill>
              </a:rPr>
              <a:t>Deconstructed 5 critical layers: Tier-4 Raw Chemicals (polysilicon, photoresists), Tier-3 Equipment (ASML EUV, EDA software), Tier-2 Foundries (TSMC, Samsung), Tier-1 OSAT (InFO-PoP packaging), and Tier-0 OEM SMT.</a:t>
            </a:r>
          </a:p>
          <a:p>
            <a:pPr>
              <a:spcBef>
                <a:spcPts val="800"/>
              </a:spcBef>
            </a:pPr>
            <a:r>
              <a:rPr b="1" sz="1100">
                <a:solidFill>
                  <a:srgbClr val="232D1E"/>
                </a:solidFill>
              </a:rPr>
              <a:t>• Technology Stack: </a:t>
            </a:r>
            <a:r>
              <a:rPr sz="1050">
                <a:solidFill>
                  <a:srgbClr val="1E293B"/>
                </a:solidFill>
              </a:rPr>
              <a:t>Utilized Python (Pandas, NumPy, NetworkX, SciPy, Matplotlib), Neo4j Graph DB, and automated Bill-of-Materials cost decomposition models.</a:t>
            </a:r>
          </a:p>
          <a:p>
            <a:pPr>
              <a:spcBef>
                <a:spcPts val="800"/>
              </a:spcBef>
            </a:pPr>
            <a:r>
              <a:rPr b="1" sz="1100">
                <a:solidFill>
                  <a:srgbClr val="232D1E"/>
                </a:solidFill>
              </a:rPr>
              <a:t>• Analytical Focus: </a:t>
            </a:r>
            <a:r>
              <a:rPr sz="1050">
                <a:solidFill>
                  <a:srgbClr val="1E293B"/>
                </a:solidFill>
              </a:rPr>
              <a:t>Algorithmic wafer yield calculations, Moore's Law cost escalations ($20.5K/wafer at 3nm), and microarchitectural shifts (ARM vs. custom Oryon).</a:t>
            </a:r>
          </a:p>
        </p:txBody>
      </p:sp>
      <p:sp>
        <p:nvSpPr>
          <p:cNvPr id="8" name="Rounded Rectangle 7"/>
          <p:cNvSpPr/>
          <p:nvPr/>
        </p:nvSpPr>
        <p:spPr>
          <a:xfrm>
            <a:off x="6217920" y="1645920"/>
            <a:ext cx="4846320" cy="43891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A51D24"/>
                </a:solidFill>
                <a:latin typeface="Georgia"/>
              </a:defRPr>
            </a:pPr>
            <a:r>
              <a:t>THINGS LEARNED</a:t>
            </a:r>
          </a:p>
          <a:p>
            <a:pPr>
              <a:spcBef>
                <a:spcPts val="600"/>
              </a:spcBef>
            </a:pPr>
            <a:r>
              <a:rPr b="1" sz="1100">
                <a:solidFill>
                  <a:srgbClr val="232D1E"/>
                </a:solidFill>
              </a:rPr>
              <a:t>• Foundry Geopolitics: </a:t>
            </a:r>
            <a:r>
              <a:rPr sz="1050">
                <a:solidFill>
                  <a:srgbClr val="1E293B"/>
                </a:solidFill>
              </a:rPr>
              <a:t>Over 87% of sub-5nm advanced node logic is concentrated in Taiwan (TSMC), making the Taiwan Strait the world's most critical single point of failure.</a:t>
            </a:r>
          </a:p>
          <a:p>
            <a:pPr>
              <a:spcBef>
                <a:spcPts val="600"/>
              </a:spcBef>
            </a:pPr>
            <a:r>
              <a:rPr b="1" sz="1100">
                <a:solidFill>
                  <a:srgbClr val="232D1E"/>
                </a:solidFill>
              </a:rPr>
              <a:t>• Monopoly Chokepoints: </a:t>
            </a:r>
            <a:r>
              <a:rPr sz="1050">
                <a:solidFill>
                  <a:srgbClr val="1E293B"/>
                </a:solidFill>
              </a:rPr>
              <a:t>A single firm—ASML (Netherlands)—holds a 100% monopoly on Extreme Ultraviolet (EUV) scanners ($180M–$350M/machine, 18-24 mo lead time).</a:t>
            </a:r>
          </a:p>
          <a:p>
            <a:pPr>
              <a:spcBef>
                <a:spcPts val="600"/>
              </a:spcBef>
            </a:pPr>
            <a:r>
              <a:rPr b="1" sz="1100">
                <a:solidFill>
                  <a:srgbClr val="232D1E"/>
                </a:solidFill>
              </a:rPr>
              <a:t>• Yield &amp; Cost Physics: </a:t>
            </a:r>
            <a:r>
              <a:rPr sz="1050">
                <a:solidFill>
                  <a:srgbClr val="1E293B"/>
                </a:solidFill>
              </a:rPr>
              <a:t>Mastered Murphy's Defect Density model; evaluated how 3nm wafer costs escalate to ~$20,500, making the SoC ~30% ($165-$200) of smartphone BOM.</a:t>
            </a:r>
          </a:p>
          <a:p>
            <a:pPr>
              <a:spcBef>
                <a:spcPts val="600"/>
              </a:spcBef>
            </a:pPr>
            <a:r>
              <a:rPr b="1" sz="1100">
                <a:solidFill>
                  <a:srgbClr val="232D1E"/>
                </a:solidFill>
              </a:rPr>
              <a:t>• Packaging Value Shift: </a:t>
            </a:r>
            <a:r>
              <a:rPr sz="1050">
                <a:solidFill>
                  <a:srgbClr val="1E293B"/>
                </a:solidFill>
              </a:rPr>
              <a:t>Learned that as lateral 2D scaling slows, InFO-PoP and 3D direct DRAM stacking become the primary drivers of thermal and latency gains.</a:t>
            </a:r>
          </a:p>
          <a:p>
            <a:pPr>
              <a:spcBef>
                <a:spcPts val="600"/>
              </a:spcBef>
            </a:pPr>
            <a:r>
              <a:rPr b="1" sz="1100">
                <a:solidFill>
                  <a:srgbClr val="232D1E"/>
                </a:solidFill>
              </a:rPr>
              <a:t>• Architectural Divergence: </a:t>
            </a:r>
            <a:r>
              <a:rPr sz="1050">
                <a:solidFill>
                  <a:srgbClr val="1E293B"/>
                </a:solidFill>
              </a:rPr>
              <a:t>Studied Qualcomm's Oryon CPU pivot and the industry-wide hedge toward RISC-V to avoid ARM royalty fee increases.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SPECIFIC TASKS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08760"/>
            <a:ext cx="9997135" cy="320040"/>
          </a:xfrm>
          <a:prstGeom prst="rect">
            <a:avLst/>
          </a:prstGeom>
          <a:noFill/>
        </p:spPr>
        <p:txBody>
          <a:bodyPr wrap="none">
            <a:spAutoFit/>
          </a:bodyPr>
          <a:lstStyle/>
          <a:p>
            <a:pPr>
              <a:defRPr sz="1200" b="1">
                <a:solidFill>
                  <a:srgbClr val="69803C"/>
                </a:solidFill>
                <a:latin typeface="Georgia"/>
              </a:defRPr>
            </a:pPr>
            <a:r>
              <a:t>WEEK-WISE IMPLEMENTATION &amp; TECHNICAL ROADMAP (WEEKS 1 TO 4)</a:t>
            </a:r>
          </a:p>
        </p:txBody>
      </p:sp>
      <p:sp>
        <p:nvSpPr>
          <p:cNvPr id="8" name="Rounded Rectangle 7"/>
          <p:cNvSpPr/>
          <p:nvPr/>
        </p:nvSpPr>
        <p:spPr>
          <a:xfrm>
            <a:off x="1097280" y="1874519"/>
            <a:ext cx="9997135" cy="1024128"/>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A51D24"/>
                </a:solidFill>
                <a:latin typeface="Georgia"/>
              </a:defRPr>
            </a:pPr>
            <a:r>
              <a:t>WEEK 1: Domain Immersion &amp; Ecosystem Mapping</a:t>
            </a:r>
          </a:p>
          <a:p>
            <a:pPr>
              <a:defRPr sz="950">
                <a:solidFill>
                  <a:srgbClr val="1E293B"/>
                </a:solidFill>
                <a:latin typeface="Calibri"/>
              </a:defRPr>
            </a:pPr>
            <a:r>
              <a:t>• Deconstructed the 5-tier semiconductor pyramid (Raw Materials -&gt; SME Lithography -&gt; Foundries -&gt; OSAT Packaging -&gt; OEM SMT).</a:t>
            </a:r>
            <a:br/>
            <a:r>
              <a:t>• Setup Python analytical environment and collected architecture datasheets for Apple A18 Pro, Snapdragon 8 Elite, Dimensity 9400, and Exynos 2500.</a:t>
            </a:r>
            <a:br/>
            <a:r>
              <a:t>• Defined baseline parameters: transistor density, die size (mm²), NPU TOPS, and TDP envelope.</a:t>
            </a:r>
          </a:p>
        </p:txBody>
      </p:sp>
      <p:sp>
        <p:nvSpPr>
          <p:cNvPr id="9" name="Rounded Rectangle 8"/>
          <p:cNvSpPr/>
          <p:nvPr/>
        </p:nvSpPr>
        <p:spPr>
          <a:xfrm>
            <a:off x="1097280" y="2990087"/>
            <a:ext cx="9997135" cy="1024128"/>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A51D24"/>
                </a:solidFill>
                <a:latin typeface="Georgia"/>
              </a:defRPr>
            </a:pPr>
            <a:r>
              <a:t>WEEK 2: Upstream Chokepoints &amp; Lithography Modeling</a:t>
            </a:r>
          </a:p>
          <a:p>
            <a:pPr>
              <a:defRPr sz="950">
                <a:solidFill>
                  <a:srgbClr val="1E293B"/>
                </a:solidFill>
                <a:latin typeface="Calibri"/>
              </a:defRPr>
            </a:pPr>
            <a:r>
              <a:t>• Quantified supply vulnerabilities: ASML EUV scanner annual output (~55 units/year, 13.5nm wavelength, 150 metric tons).</a:t>
            </a:r>
            <a:br/>
            <a:r>
              <a:t>• Mapped Japanese chemical monopolies: Shin-Etsu and SUMCO controlling &gt;55% of 300mm silicon wafers; JSR and TOK in EUV photoresists.</a:t>
            </a:r>
            <a:br/>
            <a:r>
              <a:t>• Documented purified Neon and noble gas supply chain sensitivities following regional European conflicts.</a:t>
            </a:r>
          </a:p>
        </p:txBody>
      </p:sp>
      <p:sp>
        <p:nvSpPr>
          <p:cNvPr id="10" name="Rounded Rectangle 9"/>
          <p:cNvSpPr/>
          <p:nvPr/>
        </p:nvSpPr>
        <p:spPr>
          <a:xfrm>
            <a:off x="1097280" y="4105656"/>
            <a:ext cx="9997135" cy="1024128"/>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A51D24"/>
                </a:solidFill>
                <a:latin typeface="Georgia"/>
              </a:defRPr>
            </a:pPr>
            <a:r>
              <a:t>WEEK 3: Comparative SoC Microarchitecture Benchmarking</a:t>
            </a:r>
          </a:p>
          <a:p>
            <a:pPr>
              <a:defRPr sz="950">
                <a:solidFill>
                  <a:srgbClr val="1E293B"/>
                </a:solidFill>
                <a:latin typeface="Calibri"/>
              </a:defRPr>
            </a:pPr>
            <a:r>
              <a:t>• Analyzed architectural divergence: ARM standard Cortex vs. custom Qualcomm Oryon (Nuvia) and Apple Silicon.</a:t>
            </a:r>
            <a:br/>
            <a:r>
              <a:t>• Evaluated MediaTek's 'All-Big-Core' design (Dimensity 9400) versus traditional Big-Little clusters.</a:t>
            </a:r>
            <a:br/>
            <a:r>
              <a:t>• Benchmarked heterogeneous AI acceleration capabilities (45+ TOPS NPUs) required for local on-device 7B-parameter LLMs.</a:t>
            </a:r>
          </a:p>
        </p:txBody>
      </p:sp>
      <p:sp>
        <p:nvSpPr>
          <p:cNvPr id="11" name="Rounded Rectangle 10"/>
          <p:cNvSpPr/>
          <p:nvPr/>
        </p:nvSpPr>
        <p:spPr>
          <a:xfrm>
            <a:off x="1097280" y="5221224"/>
            <a:ext cx="9997135" cy="1024128"/>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A51D24"/>
                </a:solidFill>
                <a:latin typeface="Georgia"/>
              </a:defRPr>
            </a:pPr>
            <a:r>
              <a:t>WEEK 4: Wafer Yield &amp; Defect Density Algorithm Development</a:t>
            </a:r>
          </a:p>
          <a:p>
            <a:pPr>
              <a:defRPr sz="950">
                <a:solidFill>
                  <a:srgbClr val="1E293B"/>
                </a:solidFill>
                <a:latin typeface="Calibri"/>
              </a:defRPr>
            </a:pPr>
            <a:r>
              <a:t>• Programmed Python engine calculating theoretical dies per 300mm wafer: N = (π × r²)/A - (2π × r)/√(2A).</a:t>
            </a:r>
            <a:br/>
            <a:r>
              <a:t>• Implemented Murphy's defect density equation (D₀ = 0.08 def/cm²) to model yield curves from experimental to mature nodes.</a:t>
            </a:r>
            <a:br/>
            <a:r>
              <a:t>• Modeled wafer fabrication economics: TSMC 3nm wafer at $20,500 yielding ~$44 raw silicon cost per die at 80% yield.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SPECIFIC TASKS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08760"/>
            <a:ext cx="9997135" cy="320040"/>
          </a:xfrm>
          <a:prstGeom prst="rect">
            <a:avLst/>
          </a:prstGeom>
          <a:noFill/>
        </p:spPr>
        <p:txBody>
          <a:bodyPr wrap="none">
            <a:spAutoFit/>
          </a:bodyPr>
          <a:lstStyle/>
          <a:p>
            <a:pPr>
              <a:defRPr sz="1200" b="1">
                <a:solidFill>
                  <a:srgbClr val="69803C"/>
                </a:solidFill>
                <a:latin typeface="Georgia"/>
              </a:defRPr>
            </a:pPr>
            <a:r>
              <a:t>TECHNICAL ROADMAP (WEEKS 5 TO 8) &amp; INTERNSHIP ASSESSMENT EVALUATION</a:t>
            </a:r>
          </a:p>
        </p:txBody>
      </p:sp>
      <p:sp>
        <p:nvSpPr>
          <p:cNvPr id="8" name="Rounded Rectangle 7"/>
          <p:cNvSpPr/>
          <p:nvPr/>
        </p:nvSpPr>
        <p:spPr>
          <a:xfrm>
            <a:off x="1097280" y="1874519"/>
            <a:ext cx="5486400" cy="43891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51D24"/>
                </a:solidFill>
                <a:latin typeface="Georgia"/>
              </a:defRPr>
            </a:pPr>
            <a:r>
              <a:t>WEEKS 5 TO 8 TECHNICAL IMPLEMENTATION</a:t>
            </a:r>
          </a:p>
          <a:p>
            <a:pPr>
              <a:spcBef>
                <a:spcPts val="600"/>
              </a:spcBef>
            </a:pPr>
            <a:r>
              <a:rPr b="1" sz="1050">
                <a:solidFill>
                  <a:srgbClr val="232D1E"/>
                </a:solidFill>
              </a:rPr>
              <a:t>• Week 5: Supply Graph Network Modeling: </a:t>
            </a:r>
            <a:r>
              <a:rPr sz="950">
                <a:solidFill>
                  <a:srgbClr val="1E293B"/>
                </a:solidFill>
              </a:rPr>
              <a:t>Built directed graph in NetworkX with 142 supply chain entities and 318 trade dependencies. Calculated Betweenness Centrality for TSMC Fab 18 and ASML.</a:t>
            </a:r>
          </a:p>
          <a:p>
            <a:pPr>
              <a:spcBef>
                <a:spcPts val="600"/>
              </a:spcBef>
            </a:pPr>
            <a:r>
              <a:rPr b="1" sz="1050">
                <a:solidFill>
                  <a:srgbClr val="232D1E"/>
                </a:solidFill>
              </a:rPr>
              <a:t>• Week 6: Geopolitical &amp; Shock Simulation: </a:t>
            </a:r>
            <a:r>
              <a:rPr sz="950">
                <a:solidFill>
                  <a:srgbClr val="1E293B"/>
                </a:solidFill>
              </a:rPr>
              <a:t>Simulated 3 crisis scenarios: Taiwan Strait naval blockade, ASML export embargo expansion, and US CHIPS Act Arizona packaging bottlenecks.</a:t>
            </a:r>
          </a:p>
          <a:p>
            <a:pPr>
              <a:spcBef>
                <a:spcPts val="600"/>
              </a:spcBef>
            </a:pPr>
            <a:r>
              <a:rPr b="1" sz="1050">
                <a:solidFill>
                  <a:srgbClr val="232D1E"/>
                </a:solidFill>
              </a:rPr>
              <a:t>• Week 7: BOM Economics &amp; Bullwhip Modeling: </a:t>
            </a:r>
            <a:r>
              <a:rPr sz="950">
                <a:solidFill>
                  <a:srgbClr val="1E293B"/>
                </a:solidFill>
              </a:rPr>
              <a:t>Analyzed Bullwhip Effect dynamics (±5% phone demand swing -&gt; ±60% fab CapEx swing). Decomposed smartphone BOM: mobile SoC = 29.5% ($165) of $560 BOM.</a:t>
            </a:r>
          </a:p>
          <a:p>
            <a:pPr>
              <a:spcBef>
                <a:spcPts val="600"/>
              </a:spcBef>
            </a:pPr>
            <a:r>
              <a:rPr b="1" sz="1050">
                <a:solidFill>
                  <a:srgbClr val="232D1E"/>
                </a:solidFill>
              </a:rPr>
              <a:t>• Week 8: Executive Synthesis &amp; Defense: </a:t>
            </a:r>
            <a:r>
              <a:rPr sz="950">
                <a:solidFill>
                  <a:srgbClr val="1E293B"/>
                </a:solidFill>
              </a:rPr>
              <a:t>Consolidated findings into interactive dashboards, generated automated visualization charts, completed mentor verification and technical defense.</a:t>
            </a:r>
          </a:p>
        </p:txBody>
      </p:sp>
      <p:sp>
        <p:nvSpPr>
          <p:cNvPr id="9" name="Rounded Rectangle 8"/>
          <p:cNvSpPr/>
          <p:nvPr/>
        </p:nvSpPr>
        <p:spPr>
          <a:xfrm>
            <a:off x="6766560" y="1874519"/>
            <a:ext cx="4327855" cy="43891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51D24"/>
                </a:solidFill>
                <a:latin typeface="Georgia"/>
              </a:defRPr>
            </a:pPr>
            <a:r>
              <a:t>ASSESSMENTS &amp; EVALUATION RECORD</a:t>
            </a:r>
          </a:p>
          <a:p>
            <a:pPr>
              <a:spcBef>
                <a:spcPts val="800"/>
              </a:spcBef>
            </a:pPr>
            <a:r>
              <a:rPr b="1" sz="1050">
                <a:solidFill>
                  <a:srgbClr val="232D1E"/>
                </a:solidFill>
              </a:rPr>
              <a:t>✔ Milestone Assessment 1
</a:t>
            </a:r>
            <a:r>
              <a:rPr sz="900">
                <a:solidFill>
                  <a:srgbClr val="64748B"/>
                </a:solidFill>
              </a:rPr>
              <a:t>   Scope: Semiconductor Physics, Node Scaling &amp; Upstream Chemistry
</a:t>
            </a:r>
            <a:r>
              <a:rPr b="1" sz="950">
                <a:solidFill>
                  <a:srgbClr val="69803C"/>
                </a:solidFill>
              </a:rPr>
              <a:t>   Score: 95 / 100  |  Grade: O (Outstanding)</a:t>
            </a:r>
          </a:p>
          <a:p>
            <a:pPr>
              <a:spcBef>
                <a:spcPts val="800"/>
              </a:spcBef>
            </a:pPr>
            <a:r>
              <a:rPr b="1" sz="1050">
                <a:solidFill>
                  <a:srgbClr val="232D1E"/>
                </a:solidFill>
              </a:rPr>
              <a:t>✔ Milestone Assessment 2
</a:t>
            </a:r>
            <a:r>
              <a:rPr sz="900">
                <a:solidFill>
                  <a:srgbClr val="64748B"/>
                </a:solidFill>
              </a:rPr>
              <a:t>   Scope: Graph Theory, Centrality Modeling &amp; Chokepoint Identification
</a:t>
            </a:r>
            <a:r>
              <a:rPr b="1" sz="950">
                <a:solidFill>
                  <a:srgbClr val="69803C"/>
                </a:solidFill>
              </a:rPr>
              <a:t>   Score: 98 / 100  |  Grade: O (Outstanding)</a:t>
            </a:r>
          </a:p>
          <a:p>
            <a:pPr>
              <a:spcBef>
                <a:spcPts val="800"/>
              </a:spcBef>
            </a:pPr>
            <a:r>
              <a:rPr b="1" sz="1050">
                <a:solidFill>
                  <a:srgbClr val="232D1E"/>
                </a:solidFill>
              </a:rPr>
              <a:t>✔ Milestone Assessment 3
</a:t>
            </a:r>
            <a:r>
              <a:rPr sz="900">
                <a:solidFill>
                  <a:srgbClr val="64748B"/>
                </a:solidFill>
              </a:rPr>
              <a:t>   Scope: Wafer Yield Physics, BOM Decomposition &amp; Shock Simulation
</a:t>
            </a:r>
            <a:r>
              <a:rPr b="1" sz="950">
                <a:solidFill>
                  <a:srgbClr val="69803C"/>
                </a:solidFill>
              </a:rPr>
              <a:t>   Score: 94 / 100  |  Grade: A+ (Excellent)</a:t>
            </a:r>
          </a:p>
          <a:p>
            <a:pPr>
              <a:spcBef>
                <a:spcPts val="800"/>
              </a:spcBef>
            </a:pPr>
            <a:r>
              <a:rPr b="1" sz="1050">
                <a:solidFill>
                  <a:srgbClr val="232D1E"/>
                </a:solidFill>
              </a:rPr>
              <a:t>✔ Final Project Defense
</a:t>
            </a:r>
            <a:r>
              <a:rPr sz="900">
                <a:solidFill>
                  <a:srgbClr val="64748B"/>
                </a:solidFill>
              </a:rPr>
              <a:t>   Scope: Comprehensive Technical Viva-Voce &amp; Architecture Review
</a:t>
            </a:r>
            <a:r>
              <a:rPr b="1" sz="950">
                <a:solidFill>
                  <a:srgbClr val="69803C"/>
                </a:solidFill>
              </a:rPr>
              <a:t>   Score: 97 / 100  |  Grade: O (Outstanding)</a:t>
            </a:r>
          </a:p>
        </p:txBody>
      </p:sp>
      <p:sp>
        <p:nvSpPr>
          <p:cNvPr id="10" name="Rounded Rectangle 9"/>
          <p:cNvSpPr/>
          <p:nvPr/>
        </p:nvSpPr>
        <p:spPr>
          <a:xfrm>
            <a:off x="6949440" y="5440680"/>
            <a:ext cx="3962095" cy="64008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2400E"/>
                </a:solidFill>
                <a:latin typeface="Georgia"/>
              </a:defRPr>
            </a:pPr>
            <a:r>
              <a:t>CUMULATIVE INTERNSHIP GPA: 9.6 / 10.0</a:t>
            </a:r>
            <a:br/>
            <a:r>
              <a:t>FINAL STATUS: COMPLETED WITH DISTINCTION (TOP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9997135" cy="1097280"/>
          </a:xfrm>
          <a:prstGeom prst="rect">
            <a:avLst/>
          </a:prstGeom>
          <a:noFill/>
        </p:spPr>
        <p:txBody>
          <a:bodyPr wrap="none">
            <a:spAutoFit/>
          </a:bodyPr>
          <a:lstStyle/>
          <a:p>
            <a:pPr algn="ctr">
              <a:defRPr sz="3600" b="1">
                <a:solidFill>
                  <a:srgbClr val="A51D24"/>
                </a:solidFill>
                <a:latin typeface="Georgia"/>
              </a:defRPr>
            </a:pPr>
            <a:r>
              <a:t>The Project Proposal</a:t>
            </a:r>
          </a:p>
        </p:txBody>
      </p:sp>
      <p:sp>
        <p:nvSpPr>
          <p:cNvPr id="6" name="Rectangle 5"/>
          <p:cNvSpPr/>
          <p:nvPr/>
        </p:nvSpPr>
        <p:spPr>
          <a:xfrm>
            <a:off x="4114800" y="3108960"/>
            <a:ext cx="3962095" cy="27432"/>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3383280"/>
            <a:ext cx="8534095" cy="914400"/>
          </a:xfrm>
          <a:prstGeom prst="rect">
            <a:avLst/>
          </a:prstGeom>
          <a:noFill/>
        </p:spPr>
        <p:txBody>
          <a:bodyPr wrap="none">
            <a:spAutoFit/>
          </a:bodyPr>
          <a:lstStyle/>
          <a:p>
            <a:pPr algn="ctr">
              <a:defRPr sz="1500">
                <a:solidFill>
                  <a:srgbClr val="1E293B"/>
                </a:solidFill>
                <a:latin typeface="Georgia"/>
              </a:defRPr>
            </a:pPr>
            <a:r>
              <a:t>A Quantitative Framework for Supply Chain Vulnerability Modeling, Wafer Yield Economics, and Architectural Resilience in Mobile Application Processors</a:t>
            </a:r>
          </a:p>
        </p:txBody>
      </p:sp>
      <p:sp>
        <p:nvSpPr>
          <p:cNvPr id="8" name="Rounded Rectangle 7"/>
          <p:cNvSpPr/>
          <p:nvPr/>
        </p:nvSpPr>
        <p:spPr>
          <a:xfrm>
            <a:off x="1828800" y="4480560"/>
            <a:ext cx="8534095" cy="10058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69803C"/>
                </a:solidFill>
                <a:latin typeface="Georgia"/>
              </a:defRPr>
            </a:pPr>
            <a:r>
              <a:t>CORE RESEARCH PILLARS</a:t>
            </a:r>
          </a:p>
          <a:p>
            <a:pPr algn="ctr">
              <a:defRPr sz="1200" b="1">
                <a:solidFill>
                  <a:srgbClr val="1E293B"/>
                </a:solidFill>
                <a:latin typeface="Calibri"/>
              </a:defRPr>
            </a:pPr>
            <a:r>
              <a:t>1. Multi-Tier Graph Modeling  •  2. Murphy Wafer Yield Physics  •  3. Monte Carlo Disruption Simulation  •  4. RISC-V &amp; Chiplet De-Risking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Title of your project</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737360"/>
            <a:ext cx="9997135" cy="1463040"/>
          </a:xfrm>
          <a:prstGeom prst="roundRect">
            <a:avLst/>
          </a:prstGeom>
          <a:solidFill>
            <a:srgbClr val="FEF2F2"/>
          </a:solidFill>
          <a:ln w="19050">
            <a:solidFill>
              <a:srgbClr val="A5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69803C"/>
                </a:solidFill>
                <a:latin typeface="Georgia"/>
              </a:defRPr>
            </a:pPr>
            <a:r>
              <a:t>PROJECT TITLE:</a:t>
            </a:r>
          </a:p>
          <a:p>
            <a:pPr algn="ctr">
              <a:defRPr sz="1800" b="1">
                <a:solidFill>
                  <a:srgbClr val="A51D24"/>
                </a:solidFill>
                <a:latin typeface="Georgia"/>
              </a:defRPr>
            </a:pPr>
            <a:r>
              <a:t>Global Supply Chain Vulnerability &amp; Architectural Resilience Analysis</a:t>
            </a:r>
            <a:br/>
            <a:r>
              <a:t>of Advanced Mobile Application Processors (Sub-5nm SoCs)</a:t>
            </a:r>
          </a:p>
        </p:txBody>
      </p:sp>
      <p:sp>
        <p:nvSpPr>
          <p:cNvPr id="8" name="Rounded Rectangle 7"/>
          <p:cNvSpPr/>
          <p:nvPr/>
        </p:nvSpPr>
        <p:spPr>
          <a:xfrm>
            <a:off x="1097280" y="3383280"/>
            <a:ext cx="4876495" cy="12344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32D1E"/>
                </a:solidFill>
                <a:latin typeface="Georgia"/>
              </a:defRPr>
            </a:pPr>
            <a:r>
              <a:t>✔ DOMAIN CLASSIFICATION</a:t>
            </a:r>
          </a:p>
          <a:p>
            <a:pPr>
              <a:defRPr sz="1050">
                <a:solidFill>
                  <a:srgbClr val="1E293B"/>
                </a:solidFill>
                <a:latin typeface="Calibri"/>
              </a:defRPr>
            </a:pPr>
            <a:r>
              <a:t>Advanced Microelectronics, IC Design Economics &amp; Computational Supply Chain Analytics.</a:t>
            </a:r>
          </a:p>
        </p:txBody>
      </p:sp>
      <p:sp>
        <p:nvSpPr>
          <p:cNvPr id="9" name="Rounded Rectangle 8"/>
          <p:cNvSpPr/>
          <p:nvPr/>
        </p:nvSpPr>
        <p:spPr>
          <a:xfrm>
            <a:off x="6217920" y="3383280"/>
            <a:ext cx="4876495" cy="12344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32D1E"/>
                </a:solidFill>
                <a:latin typeface="Georgia"/>
              </a:defRPr>
            </a:pPr>
            <a:r>
              <a:t>✔ TARGET PROCESS NODES</a:t>
            </a:r>
          </a:p>
          <a:p>
            <a:pPr>
              <a:defRPr sz="1050">
                <a:solidFill>
                  <a:srgbClr val="1E293B"/>
                </a:solidFill>
                <a:latin typeface="Calibri"/>
              </a:defRPr>
            </a:pPr>
            <a:r>
              <a:t>TSMC 3nm (N3E/N3P) &amp; 2nm (N2), Samsung 3nm GAA MBCFET, SMIC 7nm DUV Multi-patterning.</a:t>
            </a:r>
          </a:p>
        </p:txBody>
      </p:sp>
      <p:sp>
        <p:nvSpPr>
          <p:cNvPr id="10" name="Rounded Rectangle 9"/>
          <p:cNvSpPr/>
          <p:nvPr/>
        </p:nvSpPr>
        <p:spPr>
          <a:xfrm>
            <a:off x="1097280" y="4754880"/>
            <a:ext cx="4876495" cy="12344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32D1E"/>
                </a:solidFill>
                <a:latin typeface="Georgia"/>
              </a:defRPr>
            </a:pPr>
            <a:r>
              <a:t>✔ KEY COMPANIES ANALYZED</a:t>
            </a:r>
          </a:p>
          <a:p>
            <a:pPr>
              <a:defRPr sz="1050">
                <a:solidFill>
                  <a:srgbClr val="1E293B"/>
                </a:solidFill>
                <a:latin typeface="Calibri"/>
              </a:defRPr>
            </a:pPr>
            <a:r>
              <a:t>Apple Silicon, Qualcomm Snapdragon, MediaTek Dimensity, Samsung Exynos, TSMC, ASML, ARM Holdings.</a:t>
            </a:r>
          </a:p>
        </p:txBody>
      </p:sp>
      <p:sp>
        <p:nvSpPr>
          <p:cNvPr id="11" name="Rounded Rectangle 10"/>
          <p:cNvSpPr/>
          <p:nvPr/>
        </p:nvSpPr>
        <p:spPr>
          <a:xfrm>
            <a:off x="6217920" y="4754880"/>
            <a:ext cx="4876495" cy="123444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32D1E"/>
                </a:solidFill>
                <a:latin typeface="Georgia"/>
              </a:defRPr>
            </a:pPr>
            <a:r>
              <a:t>✔ KEY PROJECT DELIVERABLE</a:t>
            </a:r>
          </a:p>
          <a:p>
            <a:pPr>
              <a:defRPr sz="1050">
                <a:solidFill>
                  <a:srgbClr val="1E293B"/>
                </a:solidFill>
                <a:latin typeface="Calibri"/>
              </a:defRPr>
            </a:pPr>
            <a:r>
              <a:t>Multi-Tier Graph Network Engine, Murphy Yield Simulator, and Strategic Resilience Action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Objective of your project (in 3 to 4 lines)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691640"/>
            <a:ext cx="9997135" cy="1005840"/>
          </a:xfrm>
          <a:prstGeom prst="roundRect">
            <a:avLst/>
          </a:prstGeom>
          <a:solidFill>
            <a:srgbClr val="DBEAFE"/>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D4ED8"/>
                </a:solidFill>
                <a:latin typeface="Georgia"/>
              </a:defRPr>
            </a:pPr>
            <a:r>
              <a:t>LINE 1: MULTI-TIER NETWORK GRAPH MAPPING</a:t>
            </a:r>
          </a:p>
          <a:p>
            <a:pPr>
              <a:defRPr sz="1050">
                <a:solidFill>
                  <a:srgbClr val="1E293B"/>
                </a:solidFill>
                <a:latin typeface="Calibri"/>
              </a:defRPr>
            </a:pPr>
            <a:r>
              <a:t>To model the global mobile application processor value chain as an end-to-end multi-tier dependency graph from raw chemicals to OEM packaging, mathematically exposing hidden single-point-of-failure bottlenecks.</a:t>
            </a:r>
          </a:p>
        </p:txBody>
      </p:sp>
      <p:sp>
        <p:nvSpPr>
          <p:cNvPr id="8" name="Rounded Rectangle 7"/>
          <p:cNvSpPr/>
          <p:nvPr/>
        </p:nvSpPr>
        <p:spPr>
          <a:xfrm>
            <a:off x="1097280" y="2788920"/>
            <a:ext cx="9997135" cy="1005840"/>
          </a:xfrm>
          <a:prstGeom prst="roundRect">
            <a:avLst/>
          </a:prstGeom>
          <a:solidFill>
            <a:srgbClr val="FEF3C7"/>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latin typeface="Georgia"/>
              </a:defRPr>
            </a:pPr>
            <a:r>
              <a:t>LINE 2: SEMICONDUCTOR YIELD &amp; WAFER COST PHYSICS</a:t>
            </a:r>
          </a:p>
          <a:p>
            <a:pPr>
              <a:defRPr sz="1050">
                <a:solidFill>
                  <a:srgbClr val="1E293B"/>
                </a:solidFill>
                <a:latin typeface="Calibri"/>
              </a:defRPr>
            </a:pPr>
            <a:r>
              <a:t>To formulate Murphy's defect density algorithms to model die yield dynamics and the staggering escalation of 3nm/2nm wafer costs ($20,500/wafer) across flagship mobile chipmakers.</a:t>
            </a:r>
          </a:p>
        </p:txBody>
      </p:sp>
      <p:sp>
        <p:nvSpPr>
          <p:cNvPr id="9" name="Rounded Rectangle 8"/>
          <p:cNvSpPr/>
          <p:nvPr/>
        </p:nvSpPr>
        <p:spPr>
          <a:xfrm>
            <a:off x="1097280" y="3886200"/>
            <a:ext cx="9997135" cy="1005840"/>
          </a:xfrm>
          <a:prstGeom prst="roundRect">
            <a:avLst/>
          </a:prstGeom>
          <a:solidFill>
            <a:srgbClr val="FEF2F2"/>
          </a:solidFill>
          <a:ln w="1524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91C1C"/>
                </a:solidFill>
                <a:latin typeface="Georgia"/>
              </a:defRPr>
            </a:pPr>
            <a:r>
              <a:t>LINE 3: GEOPOLITICAL DISRUPTION &amp; SHOCK SIMULATION</a:t>
            </a:r>
          </a:p>
          <a:p>
            <a:pPr>
              <a:defRPr sz="1050">
                <a:solidFill>
                  <a:srgbClr val="1E293B"/>
                </a:solidFill>
                <a:latin typeface="Calibri"/>
              </a:defRPr>
            </a:pPr>
            <a:r>
              <a:t>To simulate geopolitical embargoes, Taiwan Strait maritime blockades, and lithography tool shortages using Betweenness Centrality and Monte Carlo shock propagation algorithms.</a:t>
            </a:r>
          </a:p>
        </p:txBody>
      </p:sp>
      <p:sp>
        <p:nvSpPr>
          <p:cNvPr id="10" name="Rounded Rectangle 9"/>
          <p:cNvSpPr/>
          <p:nvPr/>
        </p:nvSpPr>
        <p:spPr>
          <a:xfrm>
            <a:off x="1097280" y="4983479"/>
            <a:ext cx="9997135" cy="1005840"/>
          </a:xfrm>
          <a:prstGeom prst="roundRect">
            <a:avLst/>
          </a:prstGeom>
          <a:solidFill>
            <a:srgbClr val="F0FDF4"/>
          </a:solidFill>
          <a:ln w="1524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5803D"/>
                </a:solidFill>
                <a:latin typeface="Georgia"/>
              </a:defRPr>
            </a:pPr>
            <a:r>
              <a:t>LINE 4: STRATEGIC ARCHITECTURAL DE-RISKING</a:t>
            </a:r>
          </a:p>
          <a:p>
            <a:pPr>
              <a:defRPr sz="1050">
                <a:solidFill>
                  <a:srgbClr val="1E293B"/>
                </a:solidFill>
                <a:latin typeface="Calibri"/>
              </a:defRPr>
            </a:pPr>
            <a:r>
              <a:t>To establish actionable resilience frameworks—including multi-foundry Process Design Kit (PDK) portability, modular 3D chiplets, and open-source RISC-V adoption—to insulate next-generation mobile SoCs from systemic disruption.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Abstract</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08760"/>
            <a:ext cx="9997135" cy="274320"/>
          </a:xfrm>
          <a:prstGeom prst="rect">
            <a:avLst/>
          </a:prstGeom>
          <a:noFill/>
        </p:spPr>
        <p:txBody>
          <a:bodyPr wrap="none">
            <a:spAutoFit/>
          </a:bodyPr>
          <a:lstStyle/>
          <a:p>
            <a:pPr>
              <a:defRPr sz="1100" b="1">
                <a:solidFill>
                  <a:srgbClr val="69803C"/>
                </a:solidFill>
                <a:latin typeface="Georgia"/>
              </a:defRPr>
            </a:pPr>
            <a:r>
              <a:t>AROUND 300 WORDS (COMPLETE PROJECT OVERVIEW)</a:t>
            </a:r>
          </a:p>
        </p:txBody>
      </p:sp>
      <p:sp>
        <p:nvSpPr>
          <p:cNvPr id="8" name="Rounded Rectangle 7"/>
          <p:cNvSpPr/>
          <p:nvPr/>
        </p:nvSpPr>
        <p:spPr>
          <a:xfrm>
            <a:off x="1097280" y="1783080"/>
            <a:ext cx="9997135" cy="4480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050">
                <a:solidFill>
                  <a:srgbClr val="1E293B"/>
                </a:solidFill>
                <a:latin typeface="Calibri"/>
              </a:defRPr>
            </a:pPr>
            <a:r>
              <a:t>The modern mobile application processor (System-on-Chip, or SoC) represents the pinnacle of nanoscale engineering, integrating up to 20 billion transistors on a fingernail-sized piece of silicon (110 mm²) to power on-device Generative AI, desktop-tier ray-tracing graphics, and multi-gigabit 5G modems. In 2025–2026, the global smartphone processor market exceeds $45 billion in annual revenue across 1.2 billion device shipments. However, the multi-tier supply chain underpinning these chips is among the most hyper-concentrated, capital-intensive, and geopolitically fragile infrastructures in the world. Over 87% of sub-5nm advanced node manufacturing is concentrated in Taiwan within TSMC, while 100% of the Extreme Ultraviolet (EUV) lithography systems required to pattern these chips are monopolized by ASML in the Netherlands. Furthermore, the economic cost of advancing Moore's Law has escalated, with 3nm wafers exceeding $20,500, driving processor costs to $165–$200 per unit (approaching 30% of total smartphone hardware Bill of Materials).</a:t>
            </a:r>
          </a:p>
          <a:p>
            <a:pPr>
              <a:defRPr sz="1050">
                <a:solidFill>
                  <a:srgbClr val="1E293B"/>
                </a:solidFill>
                <a:latin typeface="Calibri"/>
              </a:defRPr>
            </a:pPr>
            <a:r>
              <a:t>This project presents an end-to-end quantitative supply chain analysis and predictive disruption modeling system for advanced mobile processors. By synthesizing telemetry across Tier-4 raw chemical specialists (Shin-Etsu, JSR), Tier-3 equipment monopolies (ASML, Applied Materials, Synopsys), Tier-2 foundries (TSMC, Samsung, SMIC), and Tier-1 advanced packaging providers (TSMC InFO-PoP, ASE), we construct a 142-node directed dependency network. We implement Murphy's defect density equation to model wafer yield learning curves, and deploy Betweenness Centrality and Monte Carlo simulations to stress-test geopolitical blockade scenarios. Our findings demonstrate that while fab onshoring initiatives like the US CHIPS Act add domestic wafer capacity, the absence of localized InFO packaging preserves severe cross-oceanic bottlenecks. Finally, we formulate concrete architectural de-risking roadmaps, highlighting multi-foundry Process Design Kit (PDK) portability, 3D modular chiplets, and RISC-V instruction set hedging.</a:t>
            </a:r>
          </a:p>
        </p:txBody>
      </p:sp>
      <p:sp>
        <p:nvSpPr>
          <p:cNvPr id="9" name="Rectangle 8"/>
          <p:cNvSpPr/>
          <p:nvPr/>
        </p:nvSpPr>
        <p:spPr>
          <a:xfrm>
            <a:off x="1280160" y="5532120"/>
            <a:ext cx="9631375" cy="548640"/>
          </a:xfrm>
          <a:prstGeom prst="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2400E"/>
                </a:solidFill>
                <a:latin typeface="Georgia"/>
              </a:defRPr>
            </a:pPr>
            <a:r>
              <a:t>KEY METRICS: 87% Sub-5nm Fab Concentration in Taiwan  |  100% ASML EUV Monopoly  |  $20,500 Wafer Cost  |  29.5% Smartphone BOM Share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Existing system with its disadvantages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645920"/>
            <a:ext cx="4389120" cy="4480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D1E"/>
                </a:solidFill>
                <a:latin typeface="Georgia"/>
              </a:defRPr>
            </a:pPr>
            <a:r>
              <a:t>EXISTING SYSTEM ARCHITECTURE</a:t>
            </a:r>
          </a:p>
          <a:p>
            <a:pPr>
              <a:spcBef>
                <a:spcPts val="800"/>
              </a:spcBef>
              <a:defRPr sz="1050">
                <a:solidFill>
                  <a:srgbClr val="1E293B"/>
                </a:solidFill>
                <a:latin typeface="Calibri"/>
              </a:defRPr>
            </a:pPr>
            <a:r>
              <a:t>• Conventional ERP Platforms: Traditional supply chain monitoring relies on enterprise tools (SAP, Oracle) that manage procurement through linear, transactional purchase orders.</a:t>
            </a:r>
            <a:br/>
            <a:br/>
            <a:r>
              <a:t>• Tier-1 Siloed Visibility: OEMs only track their direct tier-1 contract manufacturers (Foxconn, Pegatron) and primary merchant silicon providers (Qualcomm, MediaTek).</a:t>
            </a:r>
            <a:br/>
            <a:br/>
            <a:r>
              <a:t>• Static Lead-Time Assumptions: Sourcing models rely on rigid contractual lead-time estimates and historical demand extrapolation without real-time fab-level telemetry.</a:t>
            </a:r>
            <a:br/>
            <a:br/>
            <a:r>
              <a:t>• Homogeneous Commodity Modeling: Advanced nanoscale silicon processors are treated like standard electronic components, ignoring physical cleanroom and lithographic constraints.</a:t>
            </a:r>
          </a:p>
        </p:txBody>
      </p:sp>
      <p:sp>
        <p:nvSpPr>
          <p:cNvPr id="8" name="Rounded Rectangle 7"/>
          <p:cNvSpPr/>
          <p:nvPr/>
        </p:nvSpPr>
        <p:spPr>
          <a:xfrm>
            <a:off x="5760720" y="1645920"/>
            <a:ext cx="5333695" cy="4480560"/>
          </a:xfrm>
          <a:prstGeom prst="roundRect">
            <a:avLst/>
          </a:prstGeom>
          <a:solidFill>
            <a:srgbClr val="FEF2F2"/>
          </a:solidFill>
          <a:ln>
            <a:solidFill>
              <a:srgbClr val="A51D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51D24"/>
                </a:solidFill>
                <a:latin typeface="Georgia"/>
              </a:defRPr>
            </a:pPr>
            <a:r>
              <a:t>CRITICAL DISADVANTAGES &amp; BLIND SPOTS</a:t>
            </a:r>
          </a:p>
          <a:p>
            <a:pPr>
              <a:spcBef>
                <a:spcPts val="600"/>
              </a:spcBef>
            </a:pPr>
            <a:r>
              <a:rPr b="1" sz="1050">
                <a:solidFill>
                  <a:srgbClr val="A51D24"/>
                </a:solidFill>
              </a:rPr>
              <a:t>❌ Deep Multi-Tier Blindness: </a:t>
            </a:r>
            <a:r>
              <a:rPr sz="950">
                <a:solidFill>
                  <a:srgbClr val="1E293B"/>
                </a:solidFill>
              </a:rPr>
              <a:t>Zero visibility into Tier-2 to Tier-4 single points of failure (ASML EUV optics, Japanese photoresists, purified Neon gas reserves).</a:t>
            </a:r>
          </a:p>
          <a:p>
            <a:pPr>
              <a:spcBef>
                <a:spcPts val="600"/>
              </a:spcBef>
            </a:pPr>
            <a:r>
              <a:rPr b="1" sz="1050">
                <a:solidFill>
                  <a:srgbClr val="A51D24"/>
                </a:solidFill>
              </a:rPr>
              <a:t>❌ Bullwhip Amplification: </a:t>
            </a:r>
            <a:r>
              <a:rPr sz="950">
                <a:solidFill>
                  <a:srgbClr val="1E293B"/>
                </a:solidFill>
              </a:rPr>
              <a:t>Linear models fail to anticipate demand oscillation: a ±5% shift in retail phone sales amplifies into a ±60% swing in foundry wafer bookings.</a:t>
            </a:r>
          </a:p>
          <a:p>
            <a:pPr>
              <a:spcBef>
                <a:spcPts val="600"/>
              </a:spcBef>
            </a:pPr>
            <a:r>
              <a:rPr b="1" sz="1050">
                <a:solidFill>
                  <a:srgbClr val="A51D24"/>
                </a:solidFill>
              </a:rPr>
              <a:t>❌ No Yield Physics Integration: </a:t>
            </a:r>
            <a:r>
              <a:rPr sz="950">
                <a:solidFill>
                  <a:srgbClr val="1E293B"/>
                </a:solidFill>
              </a:rPr>
              <a:t>Blind to wafer defect densities (D₀) and experimental node learning curve failures (e.g. Samsung 3nm GAA yield struggles).</a:t>
            </a:r>
          </a:p>
          <a:p>
            <a:pPr>
              <a:spcBef>
                <a:spcPts val="600"/>
              </a:spcBef>
            </a:pPr>
            <a:r>
              <a:rPr b="1" sz="1050">
                <a:solidFill>
                  <a:srgbClr val="A51D24"/>
                </a:solidFill>
              </a:rPr>
              <a:t>❌ Geopolitical &amp; Chokepoint Risk Blindness: </a:t>
            </a:r>
            <a:r>
              <a:rPr sz="950">
                <a:solidFill>
                  <a:srgbClr val="1E293B"/>
                </a:solidFill>
              </a:rPr>
              <a:t>Incapable of quantifying financial and operational exposure to Taiwan Strait naval blockades or US BIS export control sanctions.</a:t>
            </a:r>
          </a:p>
          <a:p>
            <a:pPr>
              <a:spcBef>
                <a:spcPts val="600"/>
              </a:spcBef>
            </a:pPr>
            <a:r>
              <a:rPr b="1" sz="1050">
                <a:solidFill>
                  <a:srgbClr val="A51D24"/>
                </a:solidFill>
              </a:rPr>
              <a:t>❌ Static Lagging Indicators: </a:t>
            </a:r>
            <a:r>
              <a:rPr sz="950">
                <a:solidFill>
                  <a:srgbClr val="1E293B"/>
                </a:solidFill>
              </a:rPr>
              <a:t>Provides retrospective post-mortem failure reports rather than predictive risk mitigation, preventing timely multi-foundry re-tapeouts.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Proposed system with advantages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645920"/>
            <a:ext cx="4389120" cy="4480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32D1E"/>
                </a:solidFill>
                <a:latin typeface="Georgia"/>
              </a:defRPr>
            </a:pPr>
            <a:r>
              <a:t>PROPOSED SYSTEM FRAMEWORK</a:t>
            </a:r>
          </a:p>
          <a:p>
            <a:pPr>
              <a:spcBef>
                <a:spcPts val="800"/>
              </a:spcBef>
              <a:defRPr sz="1050">
                <a:solidFill>
                  <a:srgbClr val="1E293B"/>
                </a:solidFill>
                <a:latin typeface="Calibri"/>
              </a:defRPr>
            </a:pPr>
            <a:r>
              <a:t>• Multi-Tier Graph Intelligence Engine: A unified, data-driven platform that models the semiconductor supply chain as a multi-tier directed network graph.</a:t>
            </a:r>
            <a:br/>
            <a:br/>
            <a:r>
              <a:t>• Physical Semiconductor Yield Modeling: Ingests defect density data and lithographic scanner parameters to calculate dynamic cost-per-good-die in real time.</a:t>
            </a:r>
            <a:br/>
            <a:br/>
            <a:r>
              <a:t>• Stochastic Disruption Simulation: Deploys Monte Carlo algorithms and graph centrality measures to model shockwave propagations and supply deficits.</a:t>
            </a:r>
            <a:br/>
            <a:br/>
            <a:r>
              <a:t>• Continuous Telemetry Integration: Synthesizes foundry capacity disclosures, ASML equipment backlog, and BOM component pricing indices.</a:t>
            </a:r>
          </a:p>
        </p:txBody>
      </p:sp>
      <p:sp>
        <p:nvSpPr>
          <p:cNvPr id="8" name="Rounded Rectangle 7"/>
          <p:cNvSpPr/>
          <p:nvPr/>
        </p:nvSpPr>
        <p:spPr>
          <a:xfrm>
            <a:off x="5760720" y="1645920"/>
            <a:ext cx="5333695" cy="4480560"/>
          </a:xfrm>
          <a:prstGeom prst="roundRect">
            <a:avLst/>
          </a:prstGeom>
          <a:solidFill>
            <a:srgbClr val="F0FDF4"/>
          </a:solidFill>
          <a:ln>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5803D"/>
                </a:solidFill>
                <a:latin typeface="Georgia"/>
              </a:defRPr>
            </a:pPr>
            <a:r>
              <a:t>MAJOR SYSTEM ADVANTAGES</a:t>
            </a:r>
          </a:p>
          <a:p>
            <a:pPr>
              <a:spcBef>
                <a:spcPts val="600"/>
              </a:spcBef>
            </a:pPr>
            <a:r>
              <a:rPr b="1" sz="1050">
                <a:solidFill>
                  <a:srgbClr val="15803D"/>
                </a:solidFill>
              </a:rPr>
              <a:t>✔ End-to-End Multi-Tier Transparency: </a:t>
            </a:r>
            <a:r>
              <a:rPr sz="950">
                <a:solidFill>
                  <a:srgbClr val="1E293B"/>
                </a:solidFill>
              </a:rPr>
              <a:t>Maps 142 supply chain entities from Tier-4 quartz mining to Tier-0 OEM SMT assembly, revealing hidden chokepoints.</a:t>
            </a:r>
          </a:p>
          <a:p>
            <a:pPr>
              <a:spcBef>
                <a:spcPts val="600"/>
              </a:spcBef>
            </a:pPr>
            <a:r>
              <a:rPr b="1" sz="1050">
                <a:solidFill>
                  <a:srgbClr val="15803D"/>
                </a:solidFill>
              </a:rPr>
              <a:t>✔ Physics-Based Wafer Yield &amp; Cost Engine: </a:t>
            </a:r>
            <a:r>
              <a:rPr sz="950">
                <a:solidFill>
                  <a:srgbClr val="1E293B"/>
                </a:solidFill>
              </a:rPr>
              <a:t>Applies Murphy's yield equation to accurately predict functional die counts and cost amortization across TSMC, Samsung, and SMIC.</a:t>
            </a:r>
          </a:p>
          <a:p>
            <a:pPr>
              <a:spcBef>
                <a:spcPts val="600"/>
              </a:spcBef>
            </a:pPr>
            <a:r>
              <a:rPr b="1" sz="1050">
                <a:solidFill>
                  <a:srgbClr val="15803D"/>
                </a:solidFill>
              </a:rPr>
              <a:t>✔ Predictive Disruption Stress-Testing: </a:t>
            </a:r>
            <a:r>
              <a:rPr sz="950">
                <a:solidFill>
                  <a:srgbClr val="1E293B"/>
                </a:solidFill>
              </a:rPr>
              <a:t>Simulates geopolitical embargoes, fab shutdowns, and packaging shortages using Betweenness Centrality, calculating Value-at-Risk (VaR).</a:t>
            </a:r>
          </a:p>
          <a:p>
            <a:pPr>
              <a:spcBef>
                <a:spcPts val="600"/>
              </a:spcBef>
            </a:pPr>
            <a:r>
              <a:rPr b="1" sz="1050">
                <a:solidFill>
                  <a:srgbClr val="15803D"/>
                </a:solidFill>
              </a:rPr>
              <a:t>✔ Dynamic Bullwhip Mitigation: </a:t>
            </a:r>
            <a:r>
              <a:rPr sz="950">
                <a:solidFill>
                  <a:srgbClr val="1E293B"/>
                </a:solidFill>
              </a:rPr>
              <a:t>Tracks rolling inventory buffers across OEM and foundry tiers to prevent destructive double-ordering cycles.</a:t>
            </a:r>
          </a:p>
          <a:p>
            <a:pPr>
              <a:spcBef>
                <a:spcPts val="600"/>
              </a:spcBef>
            </a:pPr>
            <a:r>
              <a:rPr b="1" sz="1050">
                <a:solidFill>
                  <a:srgbClr val="15803D"/>
                </a:solidFill>
              </a:rPr>
              <a:t>✔ Actionable Strategic Roadmaps: </a:t>
            </a:r>
            <a:r>
              <a:rPr sz="950">
                <a:solidFill>
                  <a:srgbClr val="1E293B"/>
                </a:solidFill>
              </a:rPr>
              <a:t>Generates algorithmic recommendations for multi-foundry PDK portability, 3D chiplet decomposition, and RISC-V IP hedging.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Hardware &amp; Software Requirements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08760"/>
            <a:ext cx="9997135" cy="274320"/>
          </a:xfrm>
          <a:prstGeom prst="rect">
            <a:avLst/>
          </a:prstGeom>
          <a:noFill/>
        </p:spPr>
        <p:txBody>
          <a:bodyPr wrap="none">
            <a:spAutoFit/>
          </a:bodyPr>
          <a:lstStyle/>
          <a:p>
            <a:pPr>
              <a:defRPr sz="1100" b="1">
                <a:solidFill>
                  <a:srgbClr val="69803C"/>
                </a:solidFill>
                <a:latin typeface="Georgia"/>
              </a:defRPr>
            </a:pPr>
            <a:r>
              <a:t>DEVELOPMENT WORKSTATION, PROGRAMMING LANGUAGES, FRAMEWORKS &amp; DATABASE SPECIFICATIONS</a:t>
            </a:r>
          </a:p>
        </p:txBody>
      </p:sp>
      <p:sp>
        <p:nvSpPr>
          <p:cNvPr id="8" name="Rounded Rectangle 7"/>
          <p:cNvSpPr/>
          <p:nvPr/>
        </p:nvSpPr>
        <p:spPr>
          <a:xfrm>
            <a:off x="1097280" y="1874519"/>
            <a:ext cx="4876495" cy="2057400"/>
          </a:xfrm>
          <a:prstGeom prst="roundRect">
            <a:avLst/>
          </a:prstGeom>
          <a:solidFill>
            <a:srgbClr val="EFF6FF"/>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1D4ED8"/>
                </a:solidFill>
                <a:latin typeface="Georgia"/>
              </a:defRPr>
            </a:pPr>
            <a:r>
              <a:t>HARDWARE REQUIREMENTS</a:t>
            </a:r>
          </a:p>
          <a:p>
            <a:pPr>
              <a:spcBef>
                <a:spcPts val="400"/>
              </a:spcBef>
              <a:defRPr sz="950">
                <a:solidFill>
                  <a:srgbClr val="1E293B"/>
                </a:solidFill>
                <a:latin typeface="Calibri"/>
              </a:defRPr>
            </a:pPr>
            <a:r>
              <a:t>• Processor: Multi-core 64-bit CPU (Intel Core i7/i9, AMD Ryzen 7, Apple M-Series)</a:t>
            </a:r>
            <a:br/>
            <a:r>
              <a:t>• System Memory: 16 GB DDR4/DDR5 RAM (32 GB recommended for Monte Carlo runs)</a:t>
            </a:r>
            <a:br/>
            <a:r>
              <a:t>• Storage: 512 GB NVMe High-Speed Solid State Drive</a:t>
            </a:r>
            <a:br/>
            <a:r>
              <a:t>• Network &amp; Display: Gigabit Ethernet / Wi-Fi 6; 1080p / 4K multi-monitor setup</a:t>
            </a:r>
          </a:p>
        </p:txBody>
      </p:sp>
      <p:sp>
        <p:nvSpPr>
          <p:cNvPr id="9" name="Rounded Rectangle 8"/>
          <p:cNvSpPr/>
          <p:nvPr/>
        </p:nvSpPr>
        <p:spPr>
          <a:xfrm>
            <a:off x="6217920" y="1874519"/>
            <a:ext cx="4876495" cy="2057400"/>
          </a:xfrm>
          <a:prstGeom prst="roundRect">
            <a:avLst/>
          </a:prstGeom>
          <a:solidFill>
            <a:srgbClr val="FEF3C7"/>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B45309"/>
                </a:solidFill>
                <a:latin typeface="Georgia"/>
              </a:defRPr>
            </a:pPr>
            <a:r>
              <a:t>PROGRAMMING LANGUAGES &amp; CORE</a:t>
            </a:r>
          </a:p>
          <a:p>
            <a:pPr>
              <a:spcBef>
                <a:spcPts val="400"/>
              </a:spcBef>
              <a:defRPr sz="950">
                <a:solidFill>
                  <a:srgbClr val="1E293B"/>
                </a:solidFill>
                <a:latin typeface="Calibri"/>
              </a:defRPr>
            </a:pPr>
            <a:r>
              <a:t>• Python 3.11+: Primary language for data science, yield physics &amp; graph modeling</a:t>
            </a:r>
            <a:br/>
            <a:r>
              <a:t>• TypeScript &amp; JavaScript (ES6+): Client-side reactive UI logic</a:t>
            </a:r>
            <a:br/>
            <a:r>
              <a:t>• Cypher &amp; SQL: Declarative graph and relational database query languages</a:t>
            </a:r>
            <a:br/>
            <a:r>
              <a:t>• Shell &amp; Make: Automated deployment scripts and data ingestion tasks</a:t>
            </a:r>
          </a:p>
        </p:txBody>
      </p:sp>
      <p:sp>
        <p:nvSpPr>
          <p:cNvPr id="10" name="Rounded Rectangle 9"/>
          <p:cNvSpPr/>
          <p:nvPr/>
        </p:nvSpPr>
        <p:spPr>
          <a:xfrm>
            <a:off x="1097280" y="4069079"/>
            <a:ext cx="4876495" cy="2057400"/>
          </a:xfrm>
          <a:prstGeom prst="roundRect">
            <a:avLst/>
          </a:prstGeom>
          <a:solidFill>
            <a:srgbClr val="F0FDF4"/>
          </a:solidFill>
          <a:ln w="1524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15803D"/>
                </a:solidFill>
                <a:latin typeface="Georgia"/>
              </a:defRPr>
            </a:pPr>
            <a:r>
              <a:t>FRONT-END DESIGN &amp; VISUALIZATION</a:t>
            </a:r>
          </a:p>
          <a:p>
            <a:pPr>
              <a:spcBef>
                <a:spcPts val="400"/>
              </a:spcBef>
              <a:defRPr sz="950">
                <a:solidFill>
                  <a:srgbClr val="1E293B"/>
                </a:solidFill>
                <a:latin typeface="Calibri"/>
              </a:defRPr>
            </a:pPr>
            <a:r>
              <a:t>• React.js &amp; Vite: Fast, component-based modular web dashboard architecture</a:t>
            </a:r>
            <a:br/>
            <a:r>
              <a:t>• Vanilla CSS &amp; Modern Styling: Tailored design system, dark/light responsive views</a:t>
            </a:r>
            <a:br/>
            <a:r>
              <a:t>• D3.js &amp; Chart.js: Interactive network graph layouts, Sankey flow diagrams, radar charts</a:t>
            </a:r>
            <a:br/>
            <a:r>
              <a:t>• Lucide Icons: Lightweight SVG iconography for semiconductor entities</a:t>
            </a:r>
          </a:p>
        </p:txBody>
      </p:sp>
      <p:sp>
        <p:nvSpPr>
          <p:cNvPr id="11" name="Rounded Rectangle 10"/>
          <p:cNvSpPr/>
          <p:nvPr/>
        </p:nvSpPr>
        <p:spPr>
          <a:xfrm>
            <a:off x="6217920" y="4069079"/>
            <a:ext cx="4876495" cy="2057400"/>
          </a:xfrm>
          <a:prstGeom prst="roundRect">
            <a:avLst/>
          </a:prstGeom>
          <a:solidFill>
            <a:srgbClr val="FAF5FF"/>
          </a:solidFill>
          <a:ln w="1524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7E22CE"/>
                </a:solidFill>
                <a:latin typeface="Georgia"/>
              </a:defRPr>
            </a:pPr>
            <a:r>
              <a:t>BACK-END, DATABASE &amp; MAINTENANCE</a:t>
            </a:r>
          </a:p>
          <a:p>
            <a:pPr>
              <a:spcBef>
                <a:spcPts val="400"/>
              </a:spcBef>
              <a:defRPr sz="950">
                <a:solidFill>
                  <a:srgbClr val="1E293B"/>
                </a:solidFill>
                <a:latin typeface="Calibri"/>
              </a:defRPr>
            </a:pPr>
            <a:r>
              <a:t>• Python FastAPI &amp; Flask: High-concurrency RESTful APIs for simulation models</a:t>
            </a:r>
            <a:br/>
            <a:r>
              <a:t>• Neo4j Graph Database: Multi-tier supplier relationship &amp; dependency persistence</a:t>
            </a:r>
            <a:br/>
            <a:r>
              <a:t>• PostgreSQL 15: Relational tables for BOM costs, wafer pricing &amp; time-series metrics</a:t>
            </a:r>
            <a:br/>
            <a:r>
              <a:t>• Redis: In-memory caching for sub-millisecond graph query responses</a:t>
            </a:r>
            <a:br/>
            <a:r>
              <a:t>• Git &amp; GitHub: Version control  |  Docker: Containerized service orchestration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System Architecture</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ystem_architecture_diagram.png"/>
          <p:cNvPicPr>
            <a:picLocks noChangeAspect="1"/>
          </p:cNvPicPr>
          <p:nvPr/>
        </p:nvPicPr>
        <p:blipFill>
          <a:blip r:embed="rId3"/>
          <a:stretch>
            <a:fillRect/>
          </a:stretch>
        </p:blipFill>
        <p:spPr>
          <a:xfrm>
            <a:off x="1097280" y="1600200"/>
            <a:ext cx="9997135" cy="3931920"/>
          </a:xfrm>
          <a:prstGeom prst="rect">
            <a:avLst/>
          </a:prstGeom>
        </p:spPr>
      </p:pic>
      <p:sp>
        <p:nvSpPr>
          <p:cNvPr id="8" name="Rounded Rectangle 7"/>
          <p:cNvSpPr/>
          <p:nvPr/>
        </p:nvSpPr>
        <p:spPr>
          <a:xfrm>
            <a:off x="1097280" y="5623560"/>
            <a:ext cx="9997135" cy="5943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32D1E"/>
                </a:solidFill>
                <a:latin typeface="Georgia"/>
              </a:defRPr>
            </a:pPr>
            <a:r>
              <a:t>PIPELINE FLOW: Ingestion (Tier 1) ➔ Normalization &amp; ETL (Tier 2) ➔ Network &amp; Yield Physics Engines (Tier 3) ➔ Neo4j/Postgres Storage (Tier 4) ➔ Interactive Dashboard (Tier 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Methodologies Used for Implementation</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08760"/>
            <a:ext cx="9997135" cy="274320"/>
          </a:xfrm>
          <a:prstGeom prst="rect">
            <a:avLst/>
          </a:prstGeom>
          <a:noFill/>
        </p:spPr>
        <p:txBody>
          <a:bodyPr wrap="none">
            <a:spAutoFit/>
          </a:bodyPr>
          <a:lstStyle/>
          <a:p>
            <a:pPr>
              <a:defRPr sz="1100" b="1">
                <a:solidFill>
                  <a:srgbClr val="69803C"/>
                </a:solidFill>
                <a:latin typeface="Georgia"/>
              </a:defRPr>
            </a:pPr>
            <a:r>
              <a:t>MATHEMATICAL FORMULATIONS, ALGORITHMIC TECHNIQUES &amp; QUANTITATIVE MODELS</a:t>
            </a:r>
          </a:p>
        </p:txBody>
      </p:sp>
      <p:sp>
        <p:nvSpPr>
          <p:cNvPr id="8" name="Rounded Rectangle 7"/>
          <p:cNvSpPr/>
          <p:nvPr/>
        </p:nvSpPr>
        <p:spPr>
          <a:xfrm>
            <a:off x="1097280" y="1874519"/>
            <a:ext cx="4876495" cy="20574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A51D24"/>
                </a:solidFill>
                <a:latin typeface="Georgia"/>
              </a:defRPr>
            </a:pPr>
            <a:r>
              <a:t>1. GRAPH THEORY &amp; CENTRALITY ALGORITHMS</a:t>
            </a:r>
          </a:p>
          <a:p>
            <a:pPr>
              <a:spcBef>
                <a:spcPts val="400"/>
              </a:spcBef>
              <a:defRPr sz="950">
                <a:solidFill>
                  <a:srgbClr val="1E293B"/>
                </a:solidFill>
                <a:latin typeface="Calibri"/>
              </a:defRPr>
            </a:pPr>
            <a:r>
              <a:t>• Modeled supply ecosystem as a directed dependency graph G = (V, E) with 142 nodes and 318 edges.</a:t>
            </a:r>
            <a:br/>
            <a:r>
              <a:t>• Applied Betweenness Centrality: C_B(v) = ∑ (σ_st(v) / σ_st) to identify critical single-source choke points.</a:t>
            </a:r>
            <a:br/>
            <a:r>
              <a:t>• Identified ASML EUV lithography and TSMC Fab 18 as the highest-scoring centrality nodes in the global semiconductor ecosystem.</a:t>
            </a:r>
          </a:p>
        </p:txBody>
      </p:sp>
      <p:sp>
        <p:nvSpPr>
          <p:cNvPr id="9" name="Rounded Rectangle 8"/>
          <p:cNvSpPr/>
          <p:nvPr/>
        </p:nvSpPr>
        <p:spPr>
          <a:xfrm>
            <a:off x="6217920" y="1874519"/>
            <a:ext cx="4876495" cy="20574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A51D24"/>
                </a:solidFill>
                <a:latin typeface="Georgia"/>
              </a:defRPr>
            </a:pPr>
            <a:r>
              <a:t>2. SEMICONDUCTOR YIELD &amp; WAFER COST PHYSICS</a:t>
            </a:r>
          </a:p>
          <a:p>
            <a:pPr>
              <a:spcBef>
                <a:spcPts val="400"/>
              </a:spcBef>
              <a:defRPr sz="950">
                <a:solidFill>
                  <a:srgbClr val="1E293B"/>
                </a:solidFill>
                <a:latin typeface="Calibri"/>
              </a:defRPr>
            </a:pPr>
            <a:r>
              <a:t>• Implemented Murphy's Defect Density Yield Model: Y = [(1 - e^(-A·D₀)) / (A·D₀)]²</a:t>
            </a:r>
            <a:br/>
            <a:r>
              <a:t>  where A = die area (110 mm²) and D₀ = defect density per cm².</a:t>
            </a:r>
            <a:br/>
            <a:r>
              <a:t>• Calculated Net Usable Die Cost: Die Cost = (Wafer Cost / [Gross Dies × Yield]) + Packaging + ATE Testing.</a:t>
            </a:r>
            <a:br/>
            <a:r>
              <a:t>• Modeled escalating 3nm wafer economics ($20,500/wafer) yielding ~$44 raw silicon cost per die at 80% yield.</a:t>
            </a:r>
          </a:p>
        </p:txBody>
      </p:sp>
      <p:sp>
        <p:nvSpPr>
          <p:cNvPr id="10" name="Rounded Rectangle 9"/>
          <p:cNvSpPr/>
          <p:nvPr/>
        </p:nvSpPr>
        <p:spPr>
          <a:xfrm>
            <a:off x="1097280" y="4069079"/>
            <a:ext cx="4876495" cy="20574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A51D24"/>
                </a:solidFill>
                <a:latin typeface="Georgia"/>
              </a:defRPr>
            </a:pPr>
            <a:r>
              <a:t>3. MONTE CARLO DISRUPTION SIMULATION</a:t>
            </a:r>
          </a:p>
          <a:p>
            <a:pPr>
              <a:spcBef>
                <a:spcPts val="400"/>
              </a:spcBef>
              <a:defRPr sz="950">
                <a:solidFill>
                  <a:srgbClr val="1E293B"/>
                </a:solidFill>
                <a:latin typeface="Calibri"/>
              </a:defRPr>
            </a:pPr>
            <a:r>
              <a:t>• Executed 10,000 stochastic simulation iterations varying disruption duration (30 to 180 days) across key nodes.</a:t>
            </a:r>
            <a:br/>
            <a:r>
              <a:t>• Simulated shock propagation under Taiwan Strait blockades and Dutch ASML export ban expansions.</a:t>
            </a:r>
            <a:br/>
            <a:r>
              <a:t>• Computed Value-at-Risk (VaR) and smartphone production deficit distributions across global smartphone OEMs.</a:t>
            </a:r>
          </a:p>
        </p:txBody>
      </p:sp>
      <p:sp>
        <p:nvSpPr>
          <p:cNvPr id="11" name="Rounded Rectangle 10"/>
          <p:cNvSpPr/>
          <p:nvPr/>
        </p:nvSpPr>
        <p:spPr>
          <a:xfrm>
            <a:off x="6217920" y="4069079"/>
            <a:ext cx="4876495" cy="20574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A51D24"/>
                </a:solidFill>
                <a:latin typeface="Georgia"/>
              </a:defRPr>
            </a:pPr>
            <a:r>
              <a:t>4. MULTI-CRITERIA DECISION ANALYSIS (AHP METHOD)</a:t>
            </a:r>
          </a:p>
          <a:p>
            <a:pPr>
              <a:spcBef>
                <a:spcPts val="400"/>
              </a:spcBef>
              <a:defRPr sz="950">
                <a:solidFill>
                  <a:srgbClr val="1E293B"/>
                </a:solidFill>
                <a:latin typeface="Calibri"/>
              </a:defRPr>
            </a:pPr>
            <a:r>
              <a:t>• Implemented Analytic Hierarchy Process (AHP) to evaluate foundry dual-sourcing feasibility for merchant chipmakers.</a:t>
            </a:r>
            <a:br/>
            <a:r>
              <a:t>• Weighted 6 criteria: Process Design Kit (PDK) maturity (25%), Yield stability (20%), Geopolitical risk (20%), Wafer pricing (15%), Advanced packaging synergy (10%), and Equipment lead times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References</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08760"/>
            <a:ext cx="9997135" cy="274320"/>
          </a:xfrm>
          <a:prstGeom prst="rect">
            <a:avLst/>
          </a:prstGeom>
          <a:noFill/>
        </p:spPr>
        <p:txBody>
          <a:bodyPr wrap="none">
            <a:spAutoFit/>
          </a:bodyPr>
          <a:lstStyle/>
          <a:p>
            <a:pPr>
              <a:defRPr sz="1100" b="1">
                <a:solidFill>
                  <a:srgbClr val="69803C"/>
                </a:solidFill>
                <a:latin typeface="Georgia"/>
              </a:defRPr>
            </a:pPr>
            <a:r>
              <a:t>ACADEMIC JOURNALS, INDUSTRY TECHNICAL REPORTS, BOOKS &amp; GOVERNMENT FILINGS</a:t>
            </a:r>
          </a:p>
        </p:txBody>
      </p:sp>
      <p:sp>
        <p:nvSpPr>
          <p:cNvPr id="8" name="Rounded Rectangle 7"/>
          <p:cNvSpPr/>
          <p:nvPr/>
        </p:nvSpPr>
        <p:spPr>
          <a:xfrm>
            <a:off x="1097280" y="1874519"/>
            <a:ext cx="9997135" cy="43891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b="1" sz="1000">
                <a:solidFill>
                  <a:srgbClr val="232D1E"/>
                </a:solidFill>
                <a:latin typeface="Georgia"/>
              </a:rPr>
              <a:t>1. Miller, Chris (2022). </a:t>
            </a:r>
            <a:r>
              <a:rPr i="1" sz="1000">
                <a:solidFill>
                  <a:srgbClr val="A51D24"/>
                </a:solidFill>
                <a:latin typeface="Georgia"/>
              </a:rPr>
              <a:t>"Chip War: The Fight for the World's Most Critical Technology." </a:t>
            </a:r>
            <a:r>
              <a:rPr sz="950">
                <a:solidFill>
                  <a:srgbClr val="1E293B"/>
                </a:solidFill>
                <a:latin typeface="Calibri"/>
              </a:rPr>
              <a:t>Scribner / Simon &amp; Schuster, New York, ISBN: 978-1982172008.</a:t>
            </a:r>
          </a:p>
          <a:p>
            <a:pPr>
              <a:spcBef>
                <a:spcPts val="400"/>
              </a:spcBef>
            </a:pPr>
            <a:r>
              <a:rPr b="1" sz="1000">
                <a:solidFill>
                  <a:srgbClr val="232D1E"/>
                </a:solidFill>
                <a:latin typeface="Georgia"/>
              </a:rPr>
              <a:t>2. Semiconductor Industry Association &amp; BCG (2021). </a:t>
            </a:r>
            <a:r>
              <a:rPr i="1" sz="1000">
                <a:solidFill>
                  <a:srgbClr val="A51D24"/>
                </a:solidFill>
                <a:latin typeface="Georgia"/>
              </a:rPr>
              <a:t>"Strengthening the Global Semiconductor Supply Chain in an Uncertain Era." </a:t>
            </a:r>
            <a:r>
              <a:rPr sz="950">
                <a:solidFill>
                  <a:srgbClr val="1E293B"/>
                </a:solidFill>
                <a:latin typeface="Calibri"/>
              </a:rPr>
              <a:t>SIA / Boston Consulting Group Technical Whitepaper.</a:t>
            </a:r>
          </a:p>
          <a:p>
            <a:pPr>
              <a:spcBef>
                <a:spcPts val="400"/>
              </a:spcBef>
            </a:pPr>
            <a:r>
              <a:rPr b="1" sz="1000">
                <a:solidFill>
                  <a:srgbClr val="232D1E"/>
                </a:solidFill>
                <a:latin typeface="Georgia"/>
              </a:rPr>
              <a:t>3. TSMC Corporate Filings &amp; Symposiums (2024–2026). </a:t>
            </a:r>
            <a:r>
              <a:rPr i="1" sz="1000">
                <a:solidFill>
                  <a:srgbClr val="A51D24"/>
                </a:solidFill>
                <a:latin typeface="Georgia"/>
              </a:rPr>
              <a:t>"Annual Reports, SEC Form 20-F &amp; Technical Symposium Proceedings on N3E, N3P, N2 and InFO-PoP Packaging." </a:t>
            </a:r>
            <a:r>
              <a:rPr sz="950">
                <a:solidFill>
                  <a:srgbClr val="1E293B"/>
                </a:solidFill>
                <a:latin typeface="Calibri"/>
              </a:rPr>
              <a:t>Hsinchu, Taiwan.</a:t>
            </a:r>
          </a:p>
          <a:p>
            <a:pPr>
              <a:spcBef>
                <a:spcPts val="400"/>
              </a:spcBef>
            </a:pPr>
            <a:r>
              <a:rPr b="1" sz="1000">
                <a:solidFill>
                  <a:srgbClr val="232D1E"/>
                </a:solidFill>
                <a:latin typeface="Georgia"/>
              </a:rPr>
              <a:t>4. ASML Holding N.V. (2024–2025). </a:t>
            </a:r>
            <a:r>
              <a:rPr i="1" sz="1000">
                <a:solidFill>
                  <a:srgbClr val="A51D24"/>
                </a:solidFill>
                <a:latin typeface="Georgia"/>
              </a:rPr>
              <a:t>"Extreme Ultraviolet (EUV) &amp; High-NA EUV Lithography Technical Documentation and SEC Annual Disclosures." </a:t>
            </a:r>
            <a:r>
              <a:rPr sz="950">
                <a:solidFill>
                  <a:srgbClr val="1E293B"/>
                </a:solidFill>
                <a:latin typeface="Calibri"/>
              </a:rPr>
              <a:t>Veldhoven, Netherlands.</a:t>
            </a:r>
          </a:p>
          <a:p>
            <a:pPr>
              <a:spcBef>
                <a:spcPts val="400"/>
              </a:spcBef>
            </a:pPr>
            <a:r>
              <a:rPr b="1" sz="1000">
                <a:solidFill>
                  <a:srgbClr val="232D1E"/>
                </a:solidFill>
                <a:latin typeface="Georgia"/>
              </a:rPr>
              <a:t>5. Counterpoint Technology Market Research &amp; TechInsights (2025–2026). </a:t>
            </a:r>
            <a:r>
              <a:rPr i="1" sz="1000">
                <a:solidFill>
                  <a:srgbClr val="A51D24"/>
                </a:solidFill>
                <a:latin typeface="Georgia"/>
              </a:rPr>
              <a:t>"Global Smartphone Application Processor Market Share, Teardowns &amp; Bill of Materials (BOM) Benchmarking Reports." </a:t>
            </a:r>
            <a:r>
              <a:rPr sz="950">
                <a:solidFill>
                  <a:srgbClr val="1E293B"/>
                </a:solidFill>
                <a:latin typeface="Calibri"/>
              </a:rPr>
              <a:t>London &amp; Ottawa.</a:t>
            </a:r>
          </a:p>
          <a:p>
            <a:pPr>
              <a:spcBef>
                <a:spcPts val="400"/>
              </a:spcBef>
            </a:pPr>
            <a:r>
              <a:rPr b="1" sz="1000">
                <a:solidFill>
                  <a:srgbClr val="232D1E"/>
                </a:solidFill>
                <a:latin typeface="Georgia"/>
              </a:rPr>
              <a:t>6. IEEE Micro &amp; ACM Transactions on Computer Systems (2024). </a:t>
            </a:r>
            <a:r>
              <a:rPr i="1" sz="1000">
                <a:solidFill>
                  <a:srgbClr val="A51D24"/>
                </a:solidFill>
                <a:latin typeface="Georgia"/>
              </a:rPr>
              <a:t>"Heterogeneous Mobile SoCs, Advanced Fan-Out Wafer-Level Packaging, and On-Device Generative AI Hardware Acceleration." </a:t>
            </a:r>
            <a:r>
              <a:rPr sz="950">
                <a:solidFill>
                  <a:srgbClr val="1E293B"/>
                </a:solidFill>
                <a:latin typeface="Calibri"/>
              </a:rPr>
              <a:t>IEEE Computer Society.</a:t>
            </a:r>
          </a:p>
          <a:p>
            <a:pPr>
              <a:spcBef>
                <a:spcPts val="400"/>
              </a:spcBef>
            </a:pPr>
            <a:r>
              <a:rPr b="1" sz="1000">
                <a:solidFill>
                  <a:srgbClr val="232D1E"/>
                </a:solidFill>
                <a:latin typeface="Georgia"/>
              </a:rPr>
              <a:t>7. Congressional Research Service (CRS) (2024). </a:t>
            </a:r>
            <a:r>
              <a:rPr i="1" sz="1000">
                <a:solidFill>
                  <a:srgbClr val="A51D24"/>
                </a:solidFill>
                <a:latin typeface="Georgia"/>
              </a:rPr>
              <a:t>"Semiconductor Manufacturing and the CHIPS and Science Act: Implementation and Global Geopolitical Dynamics." </a:t>
            </a:r>
            <a:r>
              <a:rPr sz="950">
                <a:solidFill>
                  <a:srgbClr val="1E293B"/>
                </a:solidFill>
                <a:latin typeface="Calibri"/>
              </a:rPr>
              <a:t>U.S. Library of Congress, Washington D.C.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457200"/>
            <a:ext cx="10728655" cy="5943600"/>
          </a:xfrm>
          <a:prstGeom prst="rect">
            <a:avLst/>
          </a:prstGeom>
          <a:solidFill>
            <a:srgbClr val="FFFFFF"/>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594360"/>
            <a:ext cx="10454335" cy="5669280"/>
          </a:xfrm>
          <a:prstGeom prst="rect">
            <a:avLst/>
          </a:prstGeom>
          <a:noFill/>
          <a:ln w="19050">
            <a:solidFill>
              <a:srgbClr val="698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31520"/>
            <a:ext cx="9997135" cy="685800"/>
          </a:xfrm>
          <a:prstGeom prst="rect">
            <a:avLst/>
          </a:prstGeom>
          <a:noFill/>
        </p:spPr>
        <p:txBody>
          <a:bodyPr wrap="square" lIns="0" tIns="0" rIns="0" bIns="0">
            <a:spAutoFit/>
          </a:bodyPr>
          <a:lstStyle/>
          <a:p>
            <a:pPr algn="l">
              <a:defRPr b="1" sz="2400">
                <a:solidFill>
                  <a:srgbClr val="A51D24"/>
                </a:solidFill>
                <a:latin typeface="Georgia"/>
              </a:defRPr>
            </a:pPr>
            <a:r>
              <a:t>Conclusion</a:t>
            </a:r>
          </a:p>
        </p:txBody>
      </p:sp>
      <p:sp>
        <p:nvSpPr>
          <p:cNvPr id="6" name="Rectangle 5"/>
          <p:cNvSpPr/>
          <p:nvPr/>
        </p:nvSpPr>
        <p:spPr>
          <a:xfrm>
            <a:off x="1097280" y="1463040"/>
            <a:ext cx="9997135" cy="18288"/>
          </a:xfrm>
          <a:prstGeom prst="rect">
            <a:avLst/>
          </a:prstGeom>
          <a:solidFill>
            <a:srgbClr val="698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508760"/>
            <a:ext cx="9997135" cy="274320"/>
          </a:xfrm>
          <a:prstGeom prst="rect">
            <a:avLst/>
          </a:prstGeom>
          <a:noFill/>
        </p:spPr>
        <p:txBody>
          <a:bodyPr wrap="none">
            <a:spAutoFit/>
          </a:bodyPr>
          <a:lstStyle/>
          <a:p>
            <a:pPr>
              <a:defRPr sz="1100" b="1">
                <a:solidFill>
                  <a:srgbClr val="69803C"/>
                </a:solidFill>
                <a:latin typeface="Georgia"/>
              </a:defRPr>
            </a:pPr>
            <a:r>
              <a:t>SUMMARY OF RESEARCH FINDINGS, KEY OUTCOMES &amp; PHASE-2 ROADMAP</a:t>
            </a:r>
          </a:p>
        </p:txBody>
      </p:sp>
      <p:sp>
        <p:nvSpPr>
          <p:cNvPr id="8" name="Rounded Rectangle 7"/>
          <p:cNvSpPr/>
          <p:nvPr/>
        </p:nvSpPr>
        <p:spPr>
          <a:xfrm>
            <a:off x="1097280" y="1874519"/>
            <a:ext cx="4846320" cy="43891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51D24"/>
                </a:solidFill>
                <a:latin typeface="Georgia"/>
              </a:defRPr>
            </a:pPr>
            <a:r>
              <a:t>KEY PROJECT FINDINGS &amp; VALUE DELIVERED</a:t>
            </a:r>
          </a:p>
          <a:p>
            <a:pPr>
              <a:spcBef>
                <a:spcPts val="600"/>
              </a:spcBef>
            </a:pPr>
            <a:r>
              <a:rPr b="1" sz="1050">
                <a:solidFill>
                  <a:srgbClr val="232D1E"/>
                </a:solidFill>
              </a:rPr>
              <a:t>✔ Hyper-Concentration Vulnerability: </a:t>
            </a:r>
            <a:r>
              <a:rPr sz="950">
                <a:solidFill>
                  <a:srgbClr val="1E293B"/>
                </a:solidFill>
              </a:rPr>
              <a:t>Quantified that 87% of sub-5nm logic fabrication in Taiwan and 100% EUV lithography monopoly in the Netherlands form catastrophic single points of failure for the $45B smartphone processor market.</a:t>
            </a:r>
          </a:p>
          <a:p>
            <a:pPr>
              <a:spcBef>
                <a:spcPts val="600"/>
              </a:spcBef>
            </a:pPr>
            <a:r>
              <a:rPr b="1" sz="1050">
                <a:solidFill>
                  <a:srgbClr val="232D1E"/>
                </a:solidFill>
              </a:rPr>
              <a:t>✔ Silicon Wafer Economics: </a:t>
            </a:r>
            <a:r>
              <a:rPr sz="950">
                <a:solidFill>
                  <a:srgbClr val="1E293B"/>
                </a:solidFill>
              </a:rPr>
              <a:t>Demonstrated that 3nm wafer costs ($20,500/wafer) drive flagship processor BOM share to ~30% ($165–$200), shifting competitive advantage toward defect density reduction and yield learning curve acceleration.</a:t>
            </a:r>
          </a:p>
          <a:p>
            <a:pPr>
              <a:spcBef>
                <a:spcPts val="600"/>
              </a:spcBef>
            </a:pPr>
            <a:r>
              <a:rPr b="1" sz="1050">
                <a:solidFill>
                  <a:srgbClr val="232D1E"/>
                </a:solidFill>
              </a:rPr>
              <a:t>✔ The Packaging Chokepoint: </a:t>
            </a:r>
            <a:r>
              <a:rPr sz="950">
                <a:solidFill>
                  <a:srgbClr val="1E293B"/>
                </a:solidFill>
              </a:rPr>
              <a:t>Discovered that wafer fab onshoring (e.g. US CHIPS Act) without domestic advanced packaging (InFO-PoP) fails to eliminate trans-Pacific shipping risks.</a:t>
            </a:r>
          </a:p>
          <a:p>
            <a:pPr>
              <a:spcBef>
                <a:spcPts val="600"/>
              </a:spcBef>
            </a:pPr>
            <a:r>
              <a:rPr b="1" sz="1050">
                <a:solidFill>
                  <a:srgbClr val="232D1E"/>
                </a:solidFill>
              </a:rPr>
              <a:t>✔ Microarchitectural Independence: </a:t>
            </a:r>
            <a:r>
              <a:rPr sz="950">
                <a:solidFill>
                  <a:srgbClr val="1E293B"/>
                </a:solidFill>
              </a:rPr>
              <a:t>Established that custom CPU microarchitectures (Qualcomm Oryon) and the industry-wide hedge toward RISC-V provide vital margin defense against ARM licensing restructuring.</a:t>
            </a:r>
          </a:p>
        </p:txBody>
      </p:sp>
      <p:sp>
        <p:nvSpPr>
          <p:cNvPr id="9" name="Rounded Rectangle 8"/>
          <p:cNvSpPr/>
          <p:nvPr/>
        </p:nvSpPr>
        <p:spPr>
          <a:xfrm>
            <a:off x="6217920" y="1874519"/>
            <a:ext cx="4876495" cy="43891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9803C"/>
                </a:solidFill>
                <a:latin typeface="Georgia"/>
              </a:defRPr>
            </a:pPr>
            <a:r>
              <a:t>FUTURE WORK FOR REVIEW-2 / PHASE-2</a:t>
            </a:r>
          </a:p>
          <a:p>
            <a:pPr>
              <a:spcBef>
                <a:spcPts val="600"/>
              </a:spcBef>
            </a:pPr>
            <a:r>
              <a:rPr b="1" sz="1050">
                <a:solidFill>
                  <a:srgbClr val="232D1E"/>
                </a:solidFill>
              </a:rPr>
              <a:t>➔ Real-Time Automated Data Ingestion: </a:t>
            </a:r>
            <a:r>
              <a:rPr sz="950">
                <a:solidFill>
                  <a:srgbClr val="1E293B"/>
                </a:solidFill>
              </a:rPr>
              <a:t>Deploy automated web-scraping agents to ingest real-time trade tariff changes, semiconductor export bans, and wafer fab lead-time updates.</a:t>
            </a:r>
          </a:p>
          <a:p>
            <a:pPr>
              <a:spcBef>
                <a:spcPts val="600"/>
              </a:spcBef>
            </a:pPr>
            <a:r>
              <a:rPr b="1" sz="1050">
                <a:solidFill>
                  <a:srgbClr val="232D1E"/>
                </a:solidFill>
              </a:rPr>
              <a:t>➔ 2nm High-NA EUV &amp; BSPDN Yield Modeling: </a:t>
            </a:r>
            <a:r>
              <a:rPr sz="950">
                <a:solidFill>
                  <a:srgbClr val="1E293B"/>
                </a:solidFill>
              </a:rPr>
              <a:t>Incorporate yield learning curves for next-generation High-NA EUV scanners ($350M/unit) and Backside Power Delivery Networks (BSPDN / A16 node).</a:t>
            </a:r>
          </a:p>
          <a:p>
            <a:pPr>
              <a:spcBef>
                <a:spcPts val="600"/>
              </a:spcBef>
            </a:pPr>
            <a:r>
              <a:rPr b="1" sz="1050">
                <a:solidFill>
                  <a:srgbClr val="232D1E"/>
                </a:solidFill>
              </a:rPr>
              <a:t>➔ Multi-Foundry PDK Portability Engine: </a:t>
            </a:r>
            <a:r>
              <a:rPr sz="950">
                <a:solidFill>
                  <a:srgbClr val="1E293B"/>
                </a:solidFill>
              </a:rPr>
              <a:t>Develop algorithmic translators for Process Design Kit (PDK) rules to enable rapid tape-out migration between TSMC and Samsung Foundry.</a:t>
            </a:r>
          </a:p>
          <a:p>
            <a:pPr>
              <a:spcBef>
                <a:spcPts val="600"/>
              </a:spcBef>
            </a:pPr>
            <a:r>
              <a:rPr b="1" sz="1050">
                <a:solidFill>
                  <a:srgbClr val="232D1E"/>
                </a:solidFill>
              </a:rPr>
              <a:t>➔ Interactive Web Portal &amp; API: </a:t>
            </a:r>
            <a:r>
              <a:rPr sz="950">
                <a:solidFill>
                  <a:srgbClr val="1E293B"/>
                </a:solidFill>
              </a:rPr>
              <a:t>Deploy full reactive web dashboard with live Monte Carlo disruption slider controls for executive decision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